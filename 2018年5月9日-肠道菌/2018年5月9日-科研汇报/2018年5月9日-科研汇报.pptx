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 id="2147483673" r:id="rId3"/>
  </p:sldMasterIdLst>
  <p:notesMasterIdLst>
    <p:notesMasterId r:id="rId12"/>
  </p:notesMasterIdLst>
  <p:sldIdLst>
    <p:sldId id="275" r:id="rId4"/>
    <p:sldId id="280" r:id="rId5"/>
    <p:sldId id="270" r:id="rId6"/>
    <p:sldId id="278" r:id="rId7"/>
    <p:sldId id="279" r:id="rId8"/>
    <p:sldId id="272" r:id="rId9"/>
    <p:sldId id="273" r:id="rId10"/>
    <p:sldId id="27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4FCD0335-C604-49BF-8E01-DBC528DCF1DB}">
          <p14:sldIdLst>
            <p14:sldId id="275"/>
            <p14:sldId id="280"/>
            <p14:sldId id="270"/>
            <p14:sldId id="278"/>
            <p14:sldId id="279"/>
          </p14:sldIdLst>
        </p14:section>
        <p14:section name="内容" id="{4F1D2383-6575-42DE-A610-E75A1CFC0272}">
          <p14:sldIdLst>
            <p14:sldId id="272"/>
          </p14:sldIdLst>
        </p14:section>
        <p14:section name="致谢" id="{1C19C842-8FF7-43C5-8379-E1D4AD595D44}">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35" autoAdjust="0"/>
    <p:restoredTop sz="94660"/>
  </p:normalViewPr>
  <p:slideViewPr>
    <p:cSldViewPr snapToGrid="0">
      <p:cViewPr varScale="1">
        <p:scale>
          <a:sx n="50" d="100"/>
          <a:sy n="50" d="100"/>
        </p:scale>
        <p:origin x="701"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4E3BB-5671-45F2-B1E5-64A2B513485E}" type="datetimeFigureOut">
              <a:rPr lang="zh-CN" altLang="en-US" smtClean="0"/>
              <a:t>2018/5/11 Friday</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D2B5B4-B513-4BDB-98EE-9A3B40B7F51A}" type="slidenum">
              <a:rPr lang="zh-CN" altLang="en-US" smtClean="0"/>
              <a:t>‹#›</a:t>
            </a:fld>
            <a:endParaRPr lang="zh-CN" altLang="en-US"/>
          </a:p>
        </p:txBody>
      </p:sp>
    </p:spTree>
    <p:extLst>
      <p:ext uri="{BB962C8B-B14F-4D97-AF65-F5344CB8AC3E}">
        <p14:creationId xmlns:p14="http://schemas.microsoft.com/office/powerpoint/2010/main" val="24610246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4D2B5B4-B513-4BDB-98EE-9A3B40B7F51A}" type="slidenum">
              <a:rPr lang="zh-CN" altLang="en-US" smtClean="0"/>
              <a:t>2</a:t>
            </a:fld>
            <a:endParaRPr lang="zh-CN" altLang="en-US"/>
          </a:p>
        </p:txBody>
      </p:sp>
    </p:spTree>
    <p:extLst>
      <p:ext uri="{BB962C8B-B14F-4D97-AF65-F5344CB8AC3E}">
        <p14:creationId xmlns:p14="http://schemas.microsoft.com/office/powerpoint/2010/main" val="4125182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建立了属级随机森林分类器，以便对每个研究中的对照病例进行分类</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B2.</a:t>
            </a:r>
            <a:r>
              <a:rPr lang="zh-CN" altLang="en-US" sz="1200" b="0" i="0" kern="1200" dirty="0">
                <a:solidFill>
                  <a:schemeClr val="tx1"/>
                </a:solidFill>
                <a:effectLst/>
                <a:latin typeface="+mn-lt"/>
                <a:ea typeface="+mn-ea"/>
                <a:cs typeface="+mn-cs"/>
              </a:rPr>
              <a:t>变化属的数目</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B3.</a:t>
            </a:r>
            <a:r>
              <a:rPr lang="zh-CN" altLang="en-US" sz="1200" b="0" i="0" kern="1200" dirty="0">
                <a:solidFill>
                  <a:schemeClr val="tx1"/>
                </a:solidFill>
                <a:effectLst/>
                <a:latin typeface="+mn-lt"/>
                <a:ea typeface="+mn-ea"/>
                <a:cs typeface="+mn-cs"/>
              </a:rPr>
              <a:t>有益菌衰竭</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有害菌增多</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1986CC-EFFE-4EE8-8E6E-74664D7EC66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13858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大多数与疾病相关的微生物组织关联与对疾病的非特异性微生物反应重叠</a:t>
            </a:r>
          </a:p>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非特异性和疾病相关属</a:t>
            </a:r>
            <a:endParaRPr lang="en-US" altLang="zh-CN" dirty="0"/>
          </a:p>
          <a:p>
            <a:r>
              <a:rPr lang="en-US" altLang="zh-CN" dirty="0"/>
              <a:t>b.</a:t>
            </a:r>
            <a:r>
              <a:rPr lang="zh-CN" altLang="en-US" sz="1200" b="0" i="0" kern="1200" dirty="0">
                <a:solidFill>
                  <a:schemeClr val="tx1"/>
                </a:solidFill>
                <a:effectLst/>
                <a:latin typeface="+mn-lt"/>
                <a:ea typeface="+mn-ea"/>
                <a:cs typeface="+mn-cs"/>
              </a:rPr>
              <a:t>部分与非特定细菌重叠</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丰度普遍存在</a:t>
            </a:r>
            <a:endParaRPr lang="zh-CN" altLang="en-US" dirty="0"/>
          </a:p>
        </p:txBody>
      </p:sp>
      <p:sp>
        <p:nvSpPr>
          <p:cNvPr id="4" name="灯片编号占位符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C1986CC-EFFE-4EE8-8E6E-74664D7EC66F}"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04824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0061A1-67A8-4DE3-A282-292EDED2400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B29E10C-E785-4890-BFD4-429B76517C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839116-43EC-4F3E-8C23-9E4BD81F5326}"/>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3FF161B6-FC86-49D5-9FC3-B3A355C6F8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FC9867-E620-4F90-85F8-4874B544FEB5}"/>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74987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F79F1-BCD6-4583-B0E9-78BDFDEC506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2569026-2293-46DA-8128-4B0E25228157}"/>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E5A04063-713C-40DD-A83B-33F457E730B2}"/>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A51F84FC-3997-4B36-AD48-C2EACAB2316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10030B-0A78-49C8-94E7-304B47DA4CBD}"/>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631982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F61A75-1676-4604-BE02-8CCE3C76E0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475B235-012C-4306-82B7-64B4504551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D19DA4B9-AF8B-4F89-B9C3-12E9112C5803}"/>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01CEF73B-5045-4C74-AE79-770EBA5067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030C1B-92CB-4FB4-B8A3-F77119E59213}"/>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070375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D8EC5-C081-4A61-AB31-335E6F71F0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5E1292-E445-409A-A8BE-E1E082B4148E}"/>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8060231-8E2B-4E99-B736-9731184E8A05}"/>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F68B7D6-5E0B-4377-B423-0982B987350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9E2B6067-E2F3-4132-ACB4-D337E24DF9F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9839D06-9668-45A4-9AB8-6E0C65415DA8}"/>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840862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5F3DD9-7FD3-491A-8B0C-6A99D0DEC3F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7E7A53C-F2F4-47A9-A602-CB84152C7E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2B10B04C-8ADF-44D6-B0EB-9C45476D1CA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E12F4D4E-E7E7-4109-AC62-DB5C5C4860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8545DCF4-C0B0-4A31-B79D-A67E5BC4D4B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9DD5686-C73F-4AD9-BA13-DF646080B602}"/>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F2610F61-BF1F-4FA9-8914-D9658E987E5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80F9C0E-F2C4-406C-8F24-91A7ADEF3AFE}"/>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787121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A2B75-DEA1-4028-AE13-6C8473B3F8C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10DD72E-9AF1-4D99-9467-90EDE72B9237}"/>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BF4AF396-7EFA-425A-8C2D-16836940EB9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6540710-0638-4020-BCD6-624E8D9D47F1}"/>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17482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B3AE413-162A-497D-A4FF-D5E42E837606}"/>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A4F8594C-A91D-4E9F-AB74-4BFD60DB28F9}"/>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67E9D2F-966E-4512-972A-A11F2EBAC4B4}"/>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61771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D392AB-7FCC-4440-A9E0-A27BB14B7A8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51A3749-FCA5-4FDF-83BD-ABABC55248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F30801F5-E9D9-4645-B9DC-A3DE8126B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66F9E49-F1D1-4684-AD57-08B2FABF951A}"/>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98EEB1CF-34BB-4F7B-AA70-6BAFC45BDC8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E9EA2E-4B8E-477F-8AEB-1E14019902F5}"/>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759599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E12973-A8C8-4F8A-8CEF-591241A2BB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C44289-39CE-436F-A173-D91674EB36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2CA1A0-578D-47E9-826F-17ED0A06E7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30C6E302-313D-407F-BA77-371F537090D2}"/>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A096B7C7-617D-4A32-8DC2-8F5667219F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391EA2-73A4-4CD8-9B00-94253712A031}"/>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340849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FA1461-60F4-452D-A1B0-C8278BE60F0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DA4CCFA-768A-4860-8FFC-AB3F69FAC792}"/>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0027403-8ADB-4F6D-A5FC-611EA55C4AE8}"/>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854AD94B-B03B-4349-8E95-5CE806BEE8A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4A7EC1-0577-4EF0-A581-FA0A3B74013A}"/>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294019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6D3082E-8011-4AA7-9F37-1E6416EC93E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7A7E966-E10A-4EFB-B2ED-A1BC45EE8CEA}"/>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115C949-5924-4C90-ACE9-1ACCDC70C3FD}"/>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0838841E-52A3-444E-8B53-40FFC22E34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727EFCF-3EC7-47AC-A539-8A42B4E4A7C0}"/>
              </a:ext>
            </a:extLst>
          </p:cNvPr>
          <p:cNvSpPr>
            <a:spLocks noGrp="1"/>
          </p:cNvSpPr>
          <p:nvPr>
            <p:ph type="sldNum" sz="quarter" idx="12"/>
          </p:nvPr>
        </p:nvSpPr>
        <p:spPr/>
        <p:txBody>
          <a:bodyPr/>
          <a:lstStyle/>
          <a:p>
            <a:fld id="{B097C6C6-4A3F-40B7-8E12-408FC0D4F1CE}" type="slidenum">
              <a:rPr lang="zh-CN" altLang="en-US" smtClean="0"/>
              <a:t>‹#›</a:t>
            </a:fld>
            <a:endParaRPr lang="zh-CN" altLang="en-US"/>
          </a:p>
        </p:txBody>
      </p:sp>
    </p:spTree>
    <p:extLst>
      <p:ext uri="{BB962C8B-B14F-4D97-AF65-F5344CB8AC3E}">
        <p14:creationId xmlns:p14="http://schemas.microsoft.com/office/powerpoint/2010/main" val="1477034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rcRect r="370" b="10333"/>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922634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90D0FB9-73E7-4D64-A380-C02617B49417}"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49831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D6D06D6-2473-4919-8DB8-6C286F515F9A}"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879729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32345F-0A07-4AE3-8C89-F1FB12D7ED2A}"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688736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44FE569-70F4-48A2-A32A-BF37B1BDBEE7}"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42778071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6991D88-C716-4FD7-AE1B-2BFAA9A41018}" type="datetime1">
              <a:rPr lang="zh-CN" altLang="en-US" smtClean="0"/>
              <a:t>2018/5/11 Friday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3657350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1028C1-613F-41CD-8AE7-32ED343C039C}" type="datetime1">
              <a:rPr lang="zh-CN" altLang="en-US" smtClean="0"/>
              <a:t>2018/5/11 Friday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4248797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B4B8D-B1BE-4B0E-BBDB-09439A424F21}" type="datetime1">
              <a:rPr lang="zh-CN" altLang="en-US" smtClean="0"/>
              <a:t>2018/5/11 Friday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40412641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924CD84-141B-4849-92A6-7F6FF1ED6822}"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0915588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66E76C1-7CE1-4A0D-A0DD-27E15B769588}"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863554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D74965B-0018-4598-B829-3678AF8ECA1F}"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7633149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570B4F7-70DA-49CE-A9D9-02D7A85CA324}"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016983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90D0FB9-73E7-4D64-A380-C02617B49417}"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dirty="0"/>
          </a:p>
        </p:txBody>
      </p:sp>
    </p:spTree>
    <p:extLst>
      <p:ext uri="{BB962C8B-B14F-4D97-AF65-F5344CB8AC3E}">
        <p14:creationId xmlns:p14="http://schemas.microsoft.com/office/powerpoint/2010/main" val="23451018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D6D06D6-2473-4919-8DB8-6C286F515F9A}"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758463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32345F-0A07-4AE3-8C89-F1FB12D7ED2A}"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4483198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644FE569-70F4-48A2-A32A-BF37B1BDBEE7}"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1198985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66991D88-C716-4FD7-AE1B-2BFAA9A41018}" type="datetime1">
              <a:rPr lang="zh-CN" altLang="en-US" smtClean="0"/>
              <a:t>2018/5/11 Friday</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275914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61028C1-613F-41CD-8AE7-32ED343C039C}" type="datetime1">
              <a:rPr lang="zh-CN" altLang="en-US" smtClean="0"/>
              <a:t>2018/5/11 Friday</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0587893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5B4B8D-B1BE-4B0E-BBDB-09439A424F21}" type="datetime1">
              <a:rPr lang="zh-CN" altLang="en-US" smtClean="0"/>
              <a:t>2018/5/11 Friday</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6910124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1924CD84-141B-4849-92A6-7F6FF1ED6822}"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2023838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66E76C1-7CE1-4A0D-A0DD-27E15B769588}" type="datetime1">
              <a:rPr lang="zh-CN" altLang="en-US" smtClean="0"/>
              <a:t>2018/5/11 Friday</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6630809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D74965B-0018-4598-B829-3678AF8ECA1F}"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19934014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570B4F7-70DA-49CE-A9D9-02D7A85CA324}" type="datetime1">
              <a:rPr lang="zh-CN" altLang="en-US" smtClean="0"/>
              <a:t>2018/5/11 Friday</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3151691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F7EA849-8B50-4EBA-8696-12F954297C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A642B1E-B21C-450E-AF48-F4E04C53FA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5210404-41A1-41CA-B7F5-D8B50FF0F8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B6FC5960-BFC5-46D0-9BE7-940C67539B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5A2605F-63B8-4835-9EDF-89FD022DA7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2400" b="1" u="none">
                <a:solidFill>
                  <a:schemeClr val="tx1"/>
                </a:solidFill>
              </a:defRPr>
            </a:lvl1pPr>
          </a:lstStyle>
          <a:p>
            <a:fld id="{B097C6C6-4A3F-40B7-8E12-408FC0D4F1CE}" type="slidenum">
              <a:rPr lang="zh-CN" altLang="en-US" smtClean="0"/>
              <a:pPr/>
              <a:t>‹#›</a:t>
            </a:fld>
            <a:endParaRPr lang="zh-CN" altLang="en-US" dirty="0"/>
          </a:p>
        </p:txBody>
      </p:sp>
    </p:spTree>
    <p:extLst>
      <p:ext uri="{BB962C8B-B14F-4D97-AF65-F5344CB8AC3E}">
        <p14:creationId xmlns:p14="http://schemas.microsoft.com/office/powerpoint/2010/main" val="3196307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82EE7-F834-45B7-BC64-FBFABEF91951}" type="datetime1">
              <a:rPr lang="zh-CN" altLang="en-US" smtClean="0"/>
              <a:t>2018/5/11 Friday</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C4B9C9-2132-4B7A-9A0A-4FEC6FBD50BE}" type="slidenum">
              <a:rPr lang="zh-CN" altLang="en-US" smtClean="0"/>
              <a:t>‹#›</a:t>
            </a:fld>
            <a:endParaRPr lang="zh-CN" altLang="en-US"/>
          </a:p>
        </p:txBody>
      </p:sp>
    </p:spTree>
    <p:extLst>
      <p:ext uri="{BB962C8B-B14F-4D97-AF65-F5344CB8AC3E}">
        <p14:creationId xmlns:p14="http://schemas.microsoft.com/office/powerpoint/2010/main" val="2984557966"/>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282EE7-F834-45B7-BC64-FBFABEF91951}" type="datetime1">
              <a:rPr lang="zh-CN" altLang="en-US" smtClean="0"/>
              <a:t>2018/5/11 Friday</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rgbClr val="FF0000"/>
                </a:solidFill>
              </a:defRPr>
            </a:lvl1pPr>
          </a:lstStyle>
          <a:p>
            <a:fld id="{53C4B9C9-2132-4B7A-9A0A-4FEC6FBD50BE}" type="slidenum">
              <a:rPr lang="zh-CN" altLang="en-US" smtClean="0"/>
              <a:pPr/>
              <a:t>‹#›</a:t>
            </a:fld>
            <a:endParaRPr lang="zh-CN" altLang="en-US" dirty="0"/>
          </a:p>
        </p:txBody>
      </p:sp>
    </p:spTree>
    <p:extLst>
      <p:ext uri="{BB962C8B-B14F-4D97-AF65-F5344CB8AC3E}">
        <p14:creationId xmlns:p14="http://schemas.microsoft.com/office/powerpoint/2010/main" val="2973489095"/>
      </p:ext>
    </p:extLst>
  </p:cSld>
  <p:clrMap bg1="dk1" tx1="lt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E79007C8-D06D-4473-A3F9-731BEF96EFEF}"/>
              </a:ext>
            </a:extLst>
          </p:cNvPr>
          <p:cNvSpPr txBox="1"/>
          <p:nvPr/>
        </p:nvSpPr>
        <p:spPr>
          <a:xfrm>
            <a:off x="662940" y="0"/>
            <a:ext cx="10866120" cy="5078313"/>
          </a:xfrm>
          <a:prstGeom prst="rect">
            <a:avLst/>
          </a:prstGeom>
          <a:noFill/>
        </p:spPr>
        <p:txBody>
          <a:bodyPr wrap="square" rtlCol="0">
            <a:spAutoFit/>
          </a:bodyPr>
          <a:lstStyle/>
          <a:p>
            <a:endParaRPr lang="en-US" altLang="zh-CN" dirty="0"/>
          </a:p>
          <a:p>
            <a:endParaRPr lang="en-US" altLang="zh-CN" dirty="0"/>
          </a:p>
          <a:p>
            <a:r>
              <a:rPr lang="zh-CN" altLang="en-US" dirty="0"/>
              <a:t>这篇文献用自写软件来做分类器和预测。</a:t>
            </a:r>
            <a:endParaRPr lang="en-US" altLang="zh-CN" dirty="0"/>
          </a:p>
          <a:p>
            <a:r>
              <a:rPr lang="zh-CN" altLang="en-US" dirty="0"/>
              <a:t>由不同种类不同丰度的微生物，探究肠道菌与人体健康的关系。</a:t>
            </a:r>
            <a:endParaRPr lang="en-US" altLang="zh-CN" dirty="0"/>
          </a:p>
          <a:p>
            <a:endParaRPr lang="en-US" altLang="zh-CN" dirty="0"/>
          </a:p>
          <a:p>
            <a:r>
              <a:rPr lang="zh-CN" altLang="en-US" dirty="0"/>
              <a:t>有人致力于通过机器学习的方法如</a:t>
            </a:r>
            <a:r>
              <a:rPr lang="en-US" altLang="zh-CN" dirty="0"/>
              <a:t>SVM</a:t>
            </a:r>
            <a:r>
              <a:rPr lang="zh-CN" altLang="en-US" dirty="0"/>
              <a:t>和随机森林等就用来评价微生物群落对人体不同健康状态的判别程度，并构建预测模型，通过微生物群落来预测健康情况的走势。</a:t>
            </a:r>
            <a:endParaRPr lang="en-US" altLang="zh-CN" dirty="0"/>
          </a:p>
          <a:p>
            <a:endParaRPr lang="en-US" altLang="zh-CN" dirty="0"/>
          </a:p>
          <a:p>
            <a:r>
              <a:rPr lang="zh-CN" altLang="en-US" dirty="0"/>
              <a:t>因为有的疾病</a:t>
            </a:r>
            <a:r>
              <a:rPr lang="en-US" altLang="zh-CN" dirty="0"/>
              <a:t>(</a:t>
            </a:r>
            <a:r>
              <a:rPr lang="zh-CN" altLang="en-US" dirty="0"/>
              <a:t>如龋齿等</a:t>
            </a:r>
            <a:r>
              <a:rPr lang="en-US" altLang="zh-CN" dirty="0"/>
              <a:t>)</a:t>
            </a:r>
            <a:r>
              <a:rPr lang="zh-CN" altLang="en-US" dirty="0"/>
              <a:t>在初发阶段临床指标的变化不明显，而菌群已经开始发生了明显的变化</a:t>
            </a:r>
            <a:r>
              <a:rPr lang="en-US" altLang="zh-CN" dirty="0"/>
              <a:t>(</a:t>
            </a:r>
            <a:r>
              <a:rPr lang="zh-CN" altLang="en-US" dirty="0"/>
              <a:t>通常所说的亚健康状态</a:t>
            </a:r>
            <a:r>
              <a:rPr lang="en-US" altLang="zh-CN" dirty="0"/>
              <a:t>)</a:t>
            </a:r>
            <a:r>
              <a:rPr lang="zh-CN" altLang="en-US" dirty="0"/>
              <a:t>，所以可以利用机器学习的方法对菌群进行分类从而预测相关疾病。</a:t>
            </a:r>
            <a:endParaRPr lang="en-US" altLang="zh-CN" dirty="0"/>
          </a:p>
          <a:p>
            <a:endParaRPr lang="en-US" altLang="zh-CN" dirty="0"/>
          </a:p>
          <a:p>
            <a:r>
              <a:rPr lang="zh-CN" altLang="en-US" dirty="0"/>
              <a:t>我们的工作基于该文献的元数据</a:t>
            </a:r>
            <a:r>
              <a:rPr lang="en-US" altLang="zh-CN" dirty="0"/>
              <a:t>(metadata)</a:t>
            </a:r>
            <a:r>
              <a:rPr lang="zh-CN" altLang="en-US" dirty="0"/>
              <a:t>和非标准的</a:t>
            </a:r>
            <a:r>
              <a:rPr lang="en-US" altLang="zh-CN" dirty="0" err="1"/>
              <a:t>otu</a:t>
            </a:r>
            <a:r>
              <a:rPr lang="en-US" altLang="zh-CN" dirty="0"/>
              <a:t> table,</a:t>
            </a:r>
            <a:r>
              <a:rPr lang="zh-CN" altLang="en-US" dirty="0"/>
              <a:t>来探寻可以作为多种疾病的</a:t>
            </a:r>
            <a:r>
              <a:rPr lang="en-US" altLang="zh-CN" dirty="0" err="1"/>
              <a:t>biomarks</a:t>
            </a:r>
            <a:r>
              <a:rPr lang="zh-CN" altLang="en-US" dirty="0"/>
              <a:t>的菌属的异同</a:t>
            </a:r>
            <a:r>
              <a:rPr lang="en-US" altLang="zh-CN" dirty="0"/>
              <a:t>.(</a:t>
            </a:r>
            <a:r>
              <a:rPr lang="zh-CN" altLang="en-US" dirty="0"/>
              <a:t>非标准的</a:t>
            </a:r>
            <a:r>
              <a:rPr lang="en-US" altLang="zh-CN" dirty="0"/>
              <a:t>out table </a:t>
            </a:r>
            <a:r>
              <a:rPr lang="zh-CN" altLang="en-US" dirty="0"/>
              <a:t>相关软件不能直接使用</a:t>
            </a:r>
            <a:r>
              <a:rPr lang="en-US" altLang="zh-CN" dirty="0"/>
              <a:t>)</a:t>
            </a:r>
            <a:endParaRPr lang="zh-CN" altLang="en-US" dirty="0"/>
          </a:p>
          <a:p>
            <a:endParaRPr lang="en-US" altLang="zh-CN" dirty="0"/>
          </a:p>
          <a:p>
            <a:r>
              <a:rPr lang="zh-CN" altLang="en-US" dirty="0"/>
              <a:t>作者使用热图绘制过程已经计算过相关属并排序</a:t>
            </a:r>
            <a:r>
              <a:rPr lang="en-US" altLang="zh-CN" dirty="0"/>
              <a:t>.</a:t>
            </a:r>
          </a:p>
          <a:p>
            <a:endParaRPr lang="en-US" altLang="zh-CN" dirty="0"/>
          </a:p>
          <a:p>
            <a:br>
              <a:rPr lang="zh-CN" altLang="en-US" dirty="0"/>
            </a:br>
            <a:endParaRPr lang="zh-CN" altLang="en-US" dirty="0"/>
          </a:p>
        </p:txBody>
      </p:sp>
      <p:pic>
        <p:nvPicPr>
          <p:cNvPr id="6" name="图片 5">
            <a:extLst>
              <a:ext uri="{FF2B5EF4-FFF2-40B4-BE49-F238E27FC236}">
                <a16:creationId xmlns:a16="http://schemas.microsoft.com/office/drawing/2014/main" id="{C6EE7480-725D-4148-828C-25B26C7F8A12}"/>
              </a:ext>
            </a:extLst>
          </p:cNvPr>
          <p:cNvPicPr>
            <a:picLocks noChangeAspect="1"/>
          </p:cNvPicPr>
          <p:nvPr/>
        </p:nvPicPr>
        <p:blipFill>
          <a:blip r:embed="rId2"/>
          <a:stretch>
            <a:fillRect/>
          </a:stretch>
        </p:blipFill>
        <p:spPr>
          <a:xfrm>
            <a:off x="337829" y="4270146"/>
            <a:ext cx="11516342" cy="2341067"/>
          </a:xfrm>
          <a:prstGeom prst="rect">
            <a:avLst/>
          </a:prstGeom>
        </p:spPr>
      </p:pic>
      <p:sp>
        <p:nvSpPr>
          <p:cNvPr id="7" name="文本框 6">
            <a:extLst>
              <a:ext uri="{FF2B5EF4-FFF2-40B4-BE49-F238E27FC236}">
                <a16:creationId xmlns:a16="http://schemas.microsoft.com/office/drawing/2014/main" id="{D3AFC306-8FE7-43C3-AA4E-D9AB209440AD}"/>
              </a:ext>
            </a:extLst>
          </p:cNvPr>
          <p:cNvSpPr txBox="1"/>
          <p:nvPr/>
        </p:nvSpPr>
        <p:spPr>
          <a:xfrm>
            <a:off x="7894320" y="5791200"/>
            <a:ext cx="2621280" cy="369332"/>
          </a:xfrm>
          <a:prstGeom prst="rect">
            <a:avLst/>
          </a:prstGeom>
          <a:noFill/>
        </p:spPr>
        <p:txBody>
          <a:bodyPr wrap="square" rtlCol="0">
            <a:spAutoFit/>
          </a:bodyPr>
          <a:lstStyle/>
          <a:p>
            <a:r>
              <a:rPr lang="zh-CN" altLang="en-US" dirty="0"/>
              <a:t>非标准的</a:t>
            </a:r>
            <a:r>
              <a:rPr lang="en-US" altLang="zh-CN" dirty="0" err="1"/>
              <a:t>otu</a:t>
            </a:r>
            <a:r>
              <a:rPr lang="en-US" altLang="zh-CN" dirty="0"/>
              <a:t> table</a:t>
            </a:r>
            <a:endParaRPr lang="zh-CN" altLang="en-US" dirty="0"/>
          </a:p>
        </p:txBody>
      </p:sp>
    </p:spTree>
    <p:extLst>
      <p:ext uri="{BB962C8B-B14F-4D97-AF65-F5344CB8AC3E}">
        <p14:creationId xmlns:p14="http://schemas.microsoft.com/office/powerpoint/2010/main" val="310612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0BC1C79-B89F-4A7F-AFFF-785F3ED9D0CC}"/>
              </a:ext>
            </a:extLst>
          </p:cNvPr>
          <p:cNvSpPr txBox="1"/>
          <p:nvPr/>
        </p:nvSpPr>
        <p:spPr>
          <a:xfrm>
            <a:off x="1630680" y="1112520"/>
            <a:ext cx="7284720" cy="2585323"/>
          </a:xfrm>
          <a:prstGeom prst="rect">
            <a:avLst/>
          </a:prstGeom>
          <a:noFill/>
        </p:spPr>
        <p:txBody>
          <a:bodyPr wrap="square" rtlCol="0">
            <a:spAutoFit/>
          </a:bodyPr>
          <a:lstStyle/>
          <a:p>
            <a:r>
              <a:rPr lang="zh-CN" altLang="en-US" dirty="0"/>
              <a:t>文章计算的所有文献中不同属的</a:t>
            </a:r>
            <a:r>
              <a:rPr lang="en-US" altLang="zh-CN" dirty="0" err="1"/>
              <a:t>Logfold</a:t>
            </a:r>
            <a:r>
              <a:rPr lang="en-US" altLang="zh-CN" dirty="0"/>
              <a:t> difference.</a:t>
            </a:r>
          </a:p>
          <a:p>
            <a:r>
              <a:rPr lang="en-US" altLang="zh-CN" b="1" dirty="0"/>
              <a:t>file-S5.effects.txt</a:t>
            </a:r>
            <a:endParaRPr lang="en-US" altLang="zh-CN" dirty="0"/>
          </a:p>
          <a:p>
            <a:r>
              <a:rPr lang="en-US" altLang="zh-CN" dirty="0" err="1"/>
              <a:t>Logfold</a:t>
            </a:r>
            <a:r>
              <a:rPr lang="en-US" altLang="zh-CN" dirty="0"/>
              <a:t> difference of mean abundance in cases and controls. For each genus, this is calculated as: log2(</a:t>
            </a:r>
            <a:r>
              <a:rPr lang="en-US" altLang="zh-CN" dirty="0" err="1"/>
              <a:t>mean_abundance_in_cases</a:t>
            </a:r>
            <a:r>
              <a:rPr lang="en-US" altLang="zh-CN" dirty="0"/>
              <a:t>/</a:t>
            </a:r>
            <a:r>
              <a:rPr lang="en-US" altLang="zh-CN" dirty="0" err="1"/>
              <a:t>mean_abundance_in_controls</a:t>
            </a:r>
            <a:r>
              <a:rPr lang="en-US" altLang="zh-CN" dirty="0"/>
              <a:t>). If the mean abundance in both cases and controls is 0, this value is 0. If the mean abundance in controls is 0 and in cases is not 0, the maximum value of the table is filled in. If the mean abundance in cases is 0 and in controls is not 0, the minimum value of the table is filled in.</a:t>
            </a:r>
            <a:endParaRPr lang="zh-CN" altLang="en-US" dirty="0"/>
          </a:p>
        </p:txBody>
      </p:sp>
      <p:pic>
        <p:nvPicPr>
          <p:cNvPr id="8" name="图片 7">
            <a:extLst>
              <a:ext uri="{FF2B5EF4-FFF2-40B4-BE49-F238E27FC236}">
                <a16:creationId xmlns:a16="http://schemas.microsoft.com/office/drawing/2014/main" id="{ECF08572-B936-4A23-915C-06959CF4AF43}"/>
              </a:ext>
            </a:extLst>
          </p:cNvPr>
          <p:cNvPicPr>
            <a:picLocks noChangeAspect="1"/>
          </p:cNvPicPr>
          <p:nvPr/>
        </p:nvPicPr>
        <p:blipFill>
          <a:blip r:embed="rId3"/>
          <a:stretch>
            <a:fillRect/>
          </a:stretch>
        </p:blipFill>
        <p:spPr>
          <a:xfrm>
            <a:off x="120501" y="4288382"/>
            <a:ext cx="11950998" cy="2160000"/>
          </a:xfrm>
          <a:prstGeom prst="rect">
            <a:avLst/>
          </a:prstGeom>
        </p:spPr>
      </p:pic>
    </p:spTree>
    <p:extLst>
      <p:ext uri="{BB962C8B-B14F-4D97-AF65-F5344CB8AC3E}">
        <p14:creationId xmlns:p14="http://schemas.microsoft.com/office/powerpoint/2010/main" val="1357767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 1">
            <a:extLst>
              <a:ext uri="{FF2B5EF4-FFF2-40B4-BE49-F238E27FC236}">
                <a16:creationId xmlns:a16="http://schemas.microsoft.com/office/drawing/2014/main" id="{CE459F3B-4A3A-43C3-A0ED-F39D42F8C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6475" y="333375"/>
            <a:ext cx="6105525" cy="652462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78D2F692-0A63-4AC4-8D43-2C8410965EF5}"/>
              </a:ext>
            </a:extLst>
          </p:cNvPr>
          <p:cNvSpPr txBox="1"/>
          <p:nvPr/>
        </p:nvSpPr>
        <p:spPr>
          <a:xfrm>
            <a:off x="0" y="0"/>
            <a:ext cx="6680719" cy="5232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rgbClr val="FFC000"/>
                </a:solidFill>
                <a:effectLst/>
                <a:uLnTx/>
                <a:uFillTx/>
                <a:latin typeface="Arial" panose="020B0604020202020204"/>
                <a:ea typeface="黑体" panose="02010609060101010101" pitchFamily="49" charset="-122"/>
                <a:cs typeface="+mn-cs"/>
              </a:rPr>
              <a:t>微生物组在不同的疾病中发生了改变</a:t>
            </a:r>
          </a:p>
        </p:txBody>
      </p:sp>
      <p:sp>
        <p:nvSpPr>
          <p:cNvPr id="6" name="文本框 5">
            <a:extLst>
              <a:ext uri="{FF2B5EF4-FFF2-40B4-BE49-F238E27FC236}">
                <a16:creationId xmlns:a16="http://schemas.microsoft.com/office/drawing/2014/main" id="{0B4F9914-514B-4DBC-8E85-8ACA61D1DBDD}"/>
              </a:ext>
            </a:extLst>
          </p:cNvPr>
          <p:cNvSpPr txBox="1"/>
          <p:nvPr/>
        </p:nvSpPr>
        <p:spPr>
          <a:xfrm>
            <a:off x="346691" y="1231641"/>
            <a:ext cx="5393093" cy="1200329"/>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
                <a:srgbClr val="FFC000"/>
              </a:buClr>
              <a:buSzTx/>
              <a:buFont typeface="Wingdings" panose="05000000000000000000" pitchFamily="2" charset="2"/>
              <a:buChar char="n"/>
              <a:tabLst/>
              <a:defRPr/>
            </a:pPr>
            <a:r>
              <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AUC</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值越大，当前的分类算法越有可能将正样本排在负样本前面，即能够更好的分类。</a:t>
            </a:r>
          </a:p>
        </p:txBody>
      </p:sp>
      <p:sp>
        <p:nvSpPr>
          <p:cNvPr id="8" name="灯片编号占位符 7">
            <a:extLst>
              <a:ext uri="{FF2B5EF4-FFF2-40B4-BE49-F238E27FC236}">
                <a16:creationId xmlns:a16="http://schemas.microsoft.com/office/drawing/2014/main" id="{24C846D5-43C9-4562-B881-C7F4934F964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C4B9C9-2132-4B7A-9A0A-4FEC6FBD50BE}" type="slidenum">
              <a:rPr kumimoji="0" lang="zh-CN" altLang="en-US" sz="1800" b="0" i="0" u="none" strike="noStrike" kern="1200" cap="none" spc="0" normalizeH="0" baseline="0" noProof="0" smtClean="0">
                <a:ln>
                  <a:noFill/>
                </a:ln>
                <a:solidFill>
                  <a:srgbClr val="FF0000"/>
                </a:solidFill>
                <a:effectLst/>
                <a:uLnTx/>
                <a:uFillTx/>
                <a:latin typeface="Arial" panose="020B0604020202020204"/>
                <a:ea typeface="黑体" panose="02010609060101010101" pitchFamily="49"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zh-CN" altLang="en-US" sz="1800" b="0" i="0" u="none" strike="noStrike" kern="1200" cap="none" spc="0" normalizeH="0" baseline="0" noProof="0">
              <a:ln>
                <a:noFill/>
              </a:ln>
              <a:solidFill>
                <a:srgbClr val="FF0000"/>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2016851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 2">
            <a:extLst>
              <a:ext uri="{FF2B5EF4-FFF2-40B4-BE49-F238E27FC236}">
                <a16:creationId xmlns:a16="http://schemas.microsoft.com/office/drawing/2014/main" id="{2E5C5C53-E368-465B-8885-F50475505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4225" y="333375"/>
            <a:ext cx="5057775" cy="652462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C0985F8-CE94-4EC8-B051-0F9B361E1283}"/>
              </a:ext>
            </a:extLst>
          </p:cNvPr>
          <p:cNvSpPr/>
          <p:nvPr/>
        </p:nvSpPr>
        <p:spPr>
          <a:xfrm>
            <a:off x="466531" y="71765"/>
            <a:ext cx="6086475" cy="52322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rgbClr val="FFC000"/>
                </a:solidFill>
                <a:effectLst/>
                <a:uLnTx/>
                <a:uFillTx/>
                <a:latin typeface="Arial" panose="020B0604020202020204"/>
                <a:ea typeface="黑体" panose="02010609060101010101" pitchFamily="49" charset="-122"/>
                <a:cs typeface="+mn-cs"/>
              </a:rPr>
              <a:t>有益微生物的丧失或病原体的富集</a:t>
            </a:r>
          </a:p>
        </p:txBody>
      </p:sp>
      <p:sp>
        <p:nvSpPr>
          <p:cNvPr id="5" name="文本框 4">
            <a:extLst>
              <a:ext uri="{FF2B5EF4-FFF2-40B4-BE49-F238E27FC236}">
                <a16:creationId xmlns:a16="http://schemas.microsoft.com/office/drawing/2014/main" id="{F3A5BF0B-A273-4734-BDD2-B0E00D387955}"/>
              </a:ext>
            </a:extLst>
          </p:cNvPr>
          <p:cNvSpPr txBox="1"/>
          <p:nvPr/>
        </p:nvSpPr>
        <p:spPr>
          <a:xfrm>
            <a:off x="253288" y="989045"/>
            <a:ext cx="6590328" cy="415498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行包括在每种疾病中至少一个数据集中显着的所有属，列是数据集。</a:t>
            </a:r>
            <a:r>
              <a:rPr kumimoji="0" lang="en-US" altLang="zh-CN" sz="2400" b="0" i="1"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q</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值由效应方向着色，其中红色表示疾病患者的平均丰度较高，蓝色表示对照组中较高的平均丰度。不透明度范围从</a:t>
            </a:r>
            <a:r>
              <a:rPr kumimoji="0" lang="en-US" altLang="zh-CN" sz="2400" b="0" i="1"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q</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  </a:t>
            </a:r>
            <a:r>
              <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 0.05-1</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，其中</a:t>
            </a:r>
            <a:r>
              <a:rPr kumimoji="0" lang="en-US" altLang="zh-CN" sz="2400" b="0" i="1"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q</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值小于</a:t>
            </a:r>
            <a:r>
              <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0.05</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是最不透明的并且</a:t>
            </a:r>
            <a:r>
              <a:rPr kumimoji="0" lang="en-US" altLang="zh-CN" sz="2400" b="0" i="1"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q</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接近</a:t>
            </a:r>
            <a:r>
              <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1</a:t>
            </a:r>
            <a:r>
              <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的值是灰色的。白色表示该属不存在于该数据集中。在每张热图中，行从大多数疾病相关（顶部）到大多数健康相关（底部）排序</a:t>
            </a:r>
            <a:endPar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Heat maps showing log10(q values) for each disease </a:t>
            </a:r>
            <a:endParaRPr kumimoji="0" lang="zh-CN" altLang="en-US" sz="2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7" name="灯片编号占位符 6">
            <a:extLst>
              <a:ext uri="{FF2B5EF4-FFF2-40B4-BE49-F238E27FC236}">
                <a16:creationId xmlns:a16="http://schemas.microsoft.com/office/drawing/2014/main" id="{2086B518-A75D-4AB2-883D-26BFBEA12E7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C4B9C9-2132-4B7A-9A0A-4FEC6FBD50BE}" type="slidenum">
              <a:rPr kumimoji="0" lang="zh-CN" altLang="en-US" sz="1200" b="0" i="0" u="none" strike="noStrike" kern="1200" cap="none" spc="0" normalizeH="0" baseline="0" noProof="0" smtClean="0">
                <a:ln>
                  <a:noFill/>
                </a:ln>
                <a:solidFill>
                  <a:prstClr val="white">
                    <a:tint val="75000"/>
                  </a:prstClr>
                </a:solidFill>
                <a:effectLst/>
                <a:uLnTx/>
                <a:uFillTx/>
                <a:latin typeface="Arial" panose="020B0604020202020204"/>
                <a:ea typeface="黑体" panose="02010609060101010101" pitchFamily="49"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white">
                  <a:tint val="75000"/>
                </a:prstClr>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177673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FFFB6B5-CDF7-4361-8ADA-BE9B1B584BAA}"/>
              </a:ext>
            </a:extLst>
          </p:cNvPr>
          <p:cNvPicPr>
            <a:picLocks noChangeAspect="1"/>
          </p:cNvPicPr>
          <p:nvPr/>
        </p:nvPicPr>
        <p:blipFill>
          <a:blip r:embed="rId3"/>
          <a:stretch>
            <a:fillRect/>
          </a:stretch>
        </p:blipFill>
        <p:spPr>
          <a:xfrm>
            <a:off x="2228850" y="190500"/>
            <a:ext cx="9963150" cy="6667500"/>
          </a:xfrm>
          <a:prstGeom prst="rect">
            <a:avLst/>
          </a:prstGeom>
        </p:spPr>
      </p:pic>
      <p:sp>
        <p:nvSpPr>
          <p:cNvPr id="6" name="文本框 5">
            <a:extLst>
              <a:ext uri="{FF2B5EF4-FFF2-40B4-BE49-F238E27FC236}">
                <a16:creationId xmlns:a16="http://schemas.microsoft.com/office/drawing/2014/main" id="{F108DEF5-7307-4C4E-81B1-7CFC7E44C7A6}"/>
              </a:ext>
            </a:extLst>
          </p:cNvPr>
          <p:cNvSpPr txBox="1"/>
          <p:nvPr/>
        </p:nvSpPr>
        <p:spPr>
          <a:xfrm>
            <a:off x="0" y="1969978"/>
            <a:ext cx="2228850" cy="31085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大多数与疾病相关的微生物组织关联与对疾病的非特异性微生物反应重叠</a:t>
            </a:r>
          </a:p>
        </p:txBody>
      </p:sp>
      <p:sp>
        <p:nvSpPr>
          <p:cNvPr id="7" name="灯片编号占位符 6">
            <a:extLst>
              <a:ext uri="{FF2B5EF4-FFF2-40B4-BE49-F238E27FC236}">
                <a16:creationId xmlns:a16="http://schemas.microsoft.com/office/drawing/2014/main" id="{7E40C028-81EA-416E-B4B5-C659098CA1E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3C4B9C9-2132-4B7A-9A0A-4FEC6FBD50BE}" type="slidenum">
              <a:rPr kumimoji="0" lang="zh-CN" altLang="en-US" sz="1200" b="0" i="0" u="none" strike="noStrike" kern="1200" cap="none" spc="0" normalizeH="0" baseline="0" noProof="0" smtClean="0">
                <a:ln>
                  <a:noFill/>
                </a:ln>
                <a:solidFill>
                  <a:prstClr val="white">
                    <a:tint val="75000"/>
                  </a:prstClr>
                </a:solidFill>
                <a:effectLst/>
                <a:uLnTx/>
                <a:uFillTx/>
                <a:latin typeface="Arial" panose="020B0604020202020204"/>
                <a:ea typeface="黑体" panose="02010609060101010101" pitchFamily="49"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white">
                  <a:tint val="75000"/>
                </a:prstClr>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278401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ECEC5F3-B8F8-4CB2-A445-9403EE30C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3158"/>
            <a:ext cx="12230483" cy="2808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85BD251-BF23-4723-AEF2-F794269053C1}"/>
              </a:ext>
            </a:extLst>
          </p:cNvPr>
          <p:cNvSpPr txBox="1"/>
          <p:nvPr/>
        </p:nvSpPr>
        <p:spPr>
          <a:xfrm>
            <a:off x="411480" y="3178522"/>
            <a:ext cx="10027920" cy="3693319"/>
          </a:xfrm>
          <a:prstGeom prst="rect">
            <a:avLst/>
          </a:prstGeom>
          <a:noFill/>
        </p:spPr>
        <p:txBody>
          <a:bodyPr wrap="square" rtlCol="0">
            <a:spAutoFit/>
          </a:bodyPr>
          <a:lstStyle/>
          <a:p>
            <a:r>
              <a:rPr lang="zh-CN" altLang="en-US" dirty="0"/>
              <a:t>表格来自作者</a:t>
            </a:r>
            <a:r>
              <a:rPr lang="en-US" altLang="zh-CN" dirty="0"/>
              <a:t>,</a:t>
            </a:r>
            <a:r>
              <a:rPr lang="en-US" altLang="zh-CN" b="1" dirty="0"/>
              <a:t> file-S2.disease_specific_genera.txt</a:t>
            </a:r>
          </a:p>
          <a:p>
            <a:r>
              <a:rPr lang="en-US" altLang="zh-CN" dirty="0"/>
              <a:t>Genera which are consistently associated with individual diseases, for the diseases which had at least 3 independent datasets.</a:t>
            </a:r>
          </a:p>
          <a:p>
            <a:r>
              <a:rPr lang="en-US" altLang="zh-CN" dirty="0"/>
              <a:t>Genera are considered disease-associated if they are significant (q &lt; 0.05) in the same direction in at least two different datasets of the same disease.</a:t>
            </a:r>
          </a:p>
          <a:p>
            <a:r>
              <a:rPr lang="en-US" altLang="zh-CN" dirty="0"/>
              <a:t>Note that if a genus is significantly health-associated in 2 datasets and </a:t>
            </a:r>
            <a:r>
              <a:rPr lang="en-US" altLang="zh-CN" dirty="0" err="1"/>
              <a:t>signficantly</a:t>
            </a:r>
            <a:r>
              <a:rPr lang="en-US" altLang="zh-CN" dirty="0"/>
              <a:t> disease-associated in 1 dataset of the same disease, then it is </a:t>
            </a:r>
            <a:r>
              <a:rPr lang="en-US" altLang="zh-CN" i="1" dirty="0"/>
              <a:t>not</a:t>
            </a:r>
            <a:r>
              <a:rPr lang="en-US" altLang="zh-CN" dirty="0"/>
              <a:t> considered to be consistently associated with that disease. In other words, being both health- and disease-associated cancels out and only the </a:t>
            </a:r>
            <a:r>
              <a:rPr lang="en-US" altLang="zh-CN" i="1" dirty="0"/>
              <a:t>net</a:t>
            </a:r>
            <a:r>
              <a:rPr lang="en-US" altLang="zh-CN" dirty="0"/>
              <a:t> association is considered.</a:t>
            </a:r>
          </a:p>
          <a:p>
            <a:endParaRPr lang="en-US" altLang="zh-CN" dirty="0"/>
          </a:p>
          <a:p>
            <a:r>
              <a:rPr lang="zh-CN" altLang="en-US" dirty="0"/>
              <a:t>我根据自己的结果进行颜色标记</a:t>
            </a:r>
            <a:r>
              <a:rPr lang="en-US" altLang="zh-CN" dirty="0"/>
              <a:t>,</a:t>
            </a:r>
            <a:r>
              <a:rPr lang="zh-CN" altLang="en-US" dirty="0"/>
              <a:t>绿色</a:t>
            </a:r>
            <a:r>
              <a:rPr lang="en-US" altLang="zh-CN" dirty="0"/>
              <a:t>=</a:t>
            </a:r>
            <a:r>
              <a:rPr lang="zh-CN" altLang="en-US" dirty="0"/>
              <a:t>该属在疾病样本中减少</a:t>
            </a:r>
            <a:r>
              <a:rPr lang="en-US" altLang="zh-CN" dirty="0"/>
              <a:t>,</a:t>
            </a:r>
            <a:r>
              <a:rPr lang="zh-CN" altLang="en-US" dirty="0"/>
              <a:t>反之增多</a:t>
            </a:r>
            <a:r>
              <a:rPr lang="en-US" altLang="zh-CN" dirty="0"/>
              <a:t>.</a:t>
            </a:r>
            <a:r>
              <a:rPr lang="zh-CN" altLang="en-US" dirty="0"/>
              <a:t>其中</a:t>
            </a:r>
            <a:r>
              <a:rPr lang="en-US" altLang="zh-CN" dirty="0"/>
              <a:t>,</a:t>
            </a:r>
            <a:r>
              <a:rPr lang="en-US" altLang="zh-CN" dirty="0" err="1"/>
              <a:t>ibd</a:t>
            </a:r>
            <a:r>
              <a:rPr lang="zh-CN" altLang="en-US" dirty="0"/>
              <a:t>中未分类</a:t>
            </a:r>
            <a:r>
              <a:rPr lang="en-US" altLang="zh-CN" dirty="0"/>
              <a:t>UC/CD,</a:t>
            </a:r>
            <a:r>
              <a:rPr lang="zh-CN" altLang="en-US" dirty="0"/>
              <a:t>所以未标记该项</a:t>
            </a:r>
            <a:r>
              <a:rPr lang="en-US" altLang="zh-CN" dirty="0"/>
              <a:t>.</a:t>
            </a:r>
          </a:p>
          <a:p>
            <a:endParaRPr lang="zh-CN" altLang="en-US" dirty="0"/>
          </a:p>
        </p:txBody>
      </p:sp>
    </p:spTree>
    <p:extLst>
      <p:ext uri="{BB962C8B-B14F-4D97-AF65-F5344CB8AC3E}">
        <p14:creationId xmlns:p14="http://schemas.microsoft.com/office/powerpoint/2010/main" val="2972987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BA44FEB-9F52-450A-B018-27A1360C024E}"/>
              </a:ext>
            </a:extLst>
          </p:cNvPr>
          <p:cNvSpPr>
            <a:spLocks noGrp="1"/>
          </p:cNvSpPr>
          <p:nvPr>
            <p:ph type="sldNum" sz="quarter" idx="12"/>
          </p:nvPr>
        </p:nvSpPr>
        <p:spPr/>
        <p:txBody>
          <a:bodyPr/>
          <a:lstStyle/>
          <a:p>
            <a:fld id="{B097C6C6-4A3F-40B7-8E12-408FC0D4F1CE}" type="slidenum">
              <a:rPr lang="zh-CN" altLang="en-US" smtClean="0"/>
              <a:t>7</a:t>
            </a:fld>
            <a:endParaRPr lang="zh-CN" altLang="en-US"/>
          </a:p>
        </p:txBody>
      </p:sp>
      <p:pic>
        <p:nvPicPr>
          <p:cNvPr id="4" name="图片 3">
            <a:extLst>
              <a:ext uri="{FF2B5EF4-FFF2-40B4-BE49-F238E27FC236}">
                <a16:creationId xmlns:a16="http://schemas.microsoft.com/office/drawing/2014/main" id="{4FA8C187-A87F-4B58-953F-308EEF67B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8" y="136525"/>
            <a:ext cx="12193628" cy="3132000"/>
          </a:xfrm>
          <a:prstGeom prst="rect">
            <a:avLst/>
          </a:prstGeom>
        </p:spPr>
      </p:pic>
      <p:pic>
        <p:nvPicPr>
          <p:cNvPr id="6" name="图片 5">
            <a:extLst>
              <a:ext uri="{FF2B5EF4-FFF2-40B4-BE49-F238E27FC236}">
                <a16:creationId xmlns:a16="http://schemas.microsoft.com/office/drawing/2014/main" id="{D08606AD-A7EA-4CBA-9A5C-CC26DCEBC2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025" y="3762000"/>
            <a:ext cx="11884321" cy="3096000"/>
          </a:xfrm>
          <a:prstGeom prst="rect">
            <a:avLst/>
          </a:prstGeom>
        </p:spPr>
      </p:pic>
      <p:sp>
        <p:nvSpPr>
          <p:cNvPr id="7" name="文本框 6">
            <a:extLst>
              <a:ext uri="{FF2B5EF4-FFF2-40B4-BE49-F238E27FC236}">
                <a16:creationId xmlns:a16="http://schemas.microsoft.com/office/drawing/2014/main" id="{628D6148-5AAA-475A-8A03-DC467554FED9}"/>
              </a:ext>
            </a:extLst>
          </p:cNvPr>
          <p:cNvSpPr txBox="1"/>
          <p:nvPr/>
        </p:nvSpPr>
        <p:spPr>
          <a:xfrm>
            <a:off x="6659880" y="4689843"/>
            <a:ext cx="4876800" cy="1477328"/>
          </a:xfrm>
          <a:prstGeom prst="rect">
            <a:avLst/>
          </a:prstGeom>
          <a:noFill/>
        </p:spPr>
        <p:txBody>
          <a:bodyPr wrap="square" rtlCol="0">
            <a:spAutoFit/>
          </a:bodyPr>
          <a:lstStyle/>
          <a:p>
            <a:r>
              <a:rPr lang="zh-CN" altLang="en-US" dirty="0"/>
              <a:t>原始数据可以精确到属</a:t>
            </a:r>
            <a:r>
              <a:rPr lang="en-US" altLang="zh-CN" dirty="0"/>
              <a:t>,</a:t>
            </a:r>
            <a:r>
              <a:rPr lang="zh-CN" altLang="en-US" dirty="0"/>
              <a:t>做到属是最准确的</a:t>
            </a:r>
            <a:r>
              <a:rPr lang="en-US" altLang="zh-CN" dirty="0"/>
              <a:t>,</a:t>
            </a:r>
            <a:r>
              <a:rPr lang="zh-CN" altLang="en-US" dirty="0"/>
              <a:t>所以我们抛弃了之前统计的非属的数据</a:t>
            </a:r>
            <a:r>
              <a:rPr lang="en-US" altLang="zh-CN" dirty="0"/>
              <a:t>.</a:t>
            </a:r>
          </a:p>
          <a:p>
            <a:r>
              <a:rPr lang="zh-CN" altLang="en-US" dirty="0"/>
              <a:t>上图</a:t>
            </a:r>
            <a:r>
              <a:rPr lang="en-US" altLang="zh-CN" dirty="0"/>
              <a:t>=cd</a:t>
            </a:r>
            <a:r>
              <a:rPr lang="zh-CN" altLang="en-US" dirty="0"/>
              <a:t>疾病不同文献几种指标变化</a:t>
            </a:r>
            <a:endParaRPr lang="en-US" altLang="zh-CN" dirty="0"/>
          </a:p>
          <a:p>
            <a:r>
              <a:rPr lang="zh-CN" altLang="en-US" dirty="0"/>
              <a:t>下图</a:t>
            </a:r>
            <a:r>
              <a:rPr lang="en-US" altLang="zh-CN" dirty="0"/>
              <a:t>=</a:t>
            </a:r>
            <a:r>
              <a:rPr lang="zh-CN" altLang="en-US" dirty="0"/>
              <a:t>其中一篇文献</a:t>
            </a:r>
            <a:r>
              <a:rPr lang="en-US" altLang="zh-CN" dirty="0"/>
              <a:t>,</a:t>
            </a:r>
            <a:r>
              <a:rPr lang="zh-CN" altLang="en-US" dirty="0"/>
              <a:t>疾病与健康相关属的平均数柱状图</a:t>
            </a:r>
          </a:p>
        </p:txBody>
      </p:sp>
    </p:spTree>
    <p:extLst>
      <p:ext uri="{BB962C8B-B14F-4D97-AF65-F5344CB8AC3E}">
        <p14:creationId xmlns:p14="http://schemas.microsoft.com/office/powerpoint/2010/main" val="1189285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FA7A38-7934-4954-A1EE-B6EFD41A1F41}"/>
              </a:ext>
            </a:extLst>
          </p:cNvPr>
          <p:cNvSpPr>
            <a:spLocks noGrp="1"/>
          </p:cNvSpPr>
          <p:nvPr>
            <p:ph type="sldNum" sz="quarter" idx="12"/>
          </p:nvPr>
        </p:nvSpPr>
        <p:spPr/>
        <p:txBody>
          <a:bodyPr/>
          <a:lstStyle/>
          <a:p>
            <a:fld id="{B097C6C6-4A3F-40B7-8E12-408FC0D4F1CE}" type="slidenum">
              <a:rPr lang="zh-CN" altLang="en-US" smtClean="0"/>
              <a:t>8</a:t>
            </a:fld>
            <a:endParaRPr lang="zh-CN" altLang="en-US"/>
          </a:p>
        </p:txBody>
      </p:sp>
      <p:sp>
        <p:nvSpPr>
          <p:cNvPr id="3" name="文本框 2">
            <a:extLst>
              <a:ext uri="{FF2B5EF4-FFF2-40B4-BE49-F238E27FC236}">
                <a16:creationId xmlns:a16="http://schemas.microsoft.com/office/drawing/2014/main" id="{C0CEB0E9-0411-43EC-B79A-2D33B562A62F}"/>
              </a:ext>
            </a:extLst>
          </p:cNvPr>
          <p:cNvSpPr txBox="1"/>
          <p:nvPr/>
        </p:nvSpPr>
        <p:spPr>
          <a:xfrm>
            <a:off x="731520" y="807720"/>
            <a:ext cx="6522720" cy="1754326"/>
          </a:xfrm>
          <a:prstGeom prst="rect">
            <a:avLst/>
          </a:prstGeom>
          <a:noFill/>
        </p:spPr>
        <p:txBody>
          <a:bodyPr wrap="square" rtlCol="0">
            <a:spAutoFit/>
          </a:bodyPr>
          <a:lstStyle/>
          <a:p>
            <a:r>
              <a:rPr lang="zh-CN" altLang="en-US" dirty="0"/>
              <a:t>总结</a:t>
            </a:r>
            <a:endParaRPr lang="en-US" altLang="zh-CN" dirty="0"/>
          </a:p>
          <a:p>
            <a:r>
              <a:rPr lang="zh-CN" altLang="en-US" dirty="0"/>
              <a:t>该文献提供的数据是作者自己处理的文件格式</a:t>
            </a:r>
            <a:r>
              <a:rPr lang="en-US" altLang="zh-CN" dirty="0"/>
              <a:t>,</a:t>
            </a:r>
            <a:r>
              <a:rPr lang="zh-CN" altLang="en-US" dirty="0"/>
              <a:t>不用作者的程序很难处理</a:t>
            </a:r>
            <a:r>
              <a:rPr lang="en-US" altLang="zh-CN" dirty="0"/>
              <a:t>,</a:t>
            </a:r>
            <a:r>
              <a:rPr lang="zh-CN" altLang="en-US" dirty="0"/>
              <a:t>若要深入挖掘</a:t>
            </a:r>
            <a:r>
              <a:rPr lang="en-US" altLang="zh-CN" dirty="0"/>
              <a:t>,</a:t>
            </a:r>
            <a:r>
              <a:rPr lang="zh-CN" altLang="en-US" dirty="0"/>
              <a:t>需要</a:t>
            </a:r>
            <a:r>
              <a:rPr lang="en-US" altLang="zh-CN" dirty="0" err="1"/>
              <a:t>linux</a:t>
            </a:r>
            <a:r>
              <a:rPr lang="en-US" altLang="zh-CN" dirty="0"/>
              <a:t> </a:t>
            </a:r>
            <a:r>
              <a:rPr lang="zh-CN" altLang="en-US" dirty="0"/>
              <a:t>下很多脚本</a:t>
            </a:r>
            <a:r>
              <a:rPr lang="en-US" altLang="zh-CN" dirty="0"/>
              <a:t>,</a:t>
            </a:r>
            <a:r>
              <a:rPr lang="zh-CN" altLang="en-US" dirty="0"/>
              <a:t>我的电脑不知何故无法运行</a:t>
            </a:r>
            <a:r>
              <a:rPr lang="en-US" altLang="zh-CN" dirty="0"/>
              <a:t>.</a:t>
            </a:r>
          </a:p>
          <a:p>
            <a:endParaRPr lang="en-US" altLang="zh-CN" dirty="0"/>
          </a:p>
          <a:p>
            <a:endParaRPr lang="zh-CN" altLang="en-US" dirty="0"/>
          </a:p>
        </p:txBody>
      </p:sp>
    </p:spTree>
    <p:extLst>
      <p:ext uri="{BB962C8B-B14F-4D97-AF65-F5344CB8AC3E}">
        <p14:creationId xmlns:p14="http://schemas.microsoft.com/office/powerpoint/2010/main" val="111420161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3.xml><?xml version="1.0" encoding="utf-8"?>
<a:theme xmlns:a="http://schemas.openxmlformats.org/drawingml/2006/main" name="1_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1086</TotalTime>
  <Words>740</Words>
  <Application>Microsoft Office PowerPoint</Application>
  <PresentationFormat>宽屏</PresentationFormat>
  <Paragraphs>51</Paragraphs>
  <Slides>8</Slides>
  <Notes>3</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8</vt:i4>
      </vt:variant>
    </vt:vector>
  </HeadingPairs>
  <TitlesOfParts>
    <vt:vector size="18" baseType="lpstr">
      <vt:lpstr>等线</vt:lpstr>
      <vt:lpstr>等线 Light</vt:lpstr>
      <vt:lpstr>黑体</vt:lpstr>
      <vt:lpstr>微软雅黑</vt:lpstr>
      <vt:lpstr>Arial</vt:lpstr>
      <vt:lpstr>Arial Black</vt:lpstr>
      <vt:lpstr>Wingdings</vt:lpstr>
      <vt:lpstr>Office 主题​​</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哲</dc:creator>
  <cp:lastModifiedBy>王 哲</cp:lastModifiedBy>
  <cp:revision>34</cp:revision>
  <dcterms:created xsi:type="dcterms:W3CDTF">2018-04-22T13:00:30Z</dcterms:created>
  <dcterms:modified xsi:type="dcterms:W3CDTF">2018-05-11T01:37:01Z</dcterms:modified>
</cp:coreProperties>
</file>