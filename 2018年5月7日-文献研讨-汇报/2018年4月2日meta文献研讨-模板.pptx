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1"/>
  </p:notesMasterIdLst>
  <p:handoutMasterIdLst>
    <p:handoutMasterId r:id="rId22"/>
  </p:handoutMasterIdLst>
  <p:sldIdLst>
    <p:sldId id="266" r:id="rId2"/>
    <p:sldId id="279" r:id="rId3"/>
    <p:sldId id="267" r:id="rId4"/>
    <p:sldId id="268" r:id="rId5"/>
    <p:sldId id="278" r:id="rId6"/>
    <p:sldId id="271" r:id="rId7"/>
    <p:sldId id="270" r:id="rId8"/>
    <p:sldId id="272" r:id="rId9"/>
    <p:sldId id="274" r:id="rId10"/>
    <p:sldId id="275" r:id="rId11"/>
    <p:sldId id="276" r:id="rId12"/>
    <p:sldId id="277" r:id="rId13"/>
    <p:sldId id="280" r:id="rId14"/>
    <p:sldId id="281" r:id="rId15"/>
    <p:sldId id="282" r:id="rId16"/>
    <p:sldId id="265" r:id="rId17"/>
    <p:sldId id="261" r:id="rId18"/>
    <p:sldId id="262" r:id="rId19"/>
    <p:sldId id="263"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76AD6EC9-2517-4C45-9F80-5C6B353C8A28}">
          <p14:sldIdLst>
            <p14:sldId id="266"/>
            <p14:sldId id="279"/>
          </p14:sldIdLst>
        </p14:section>
        <p14:section name="简介" id="{134B4F47-CBAF-485F-921B-94ED4203F5CB}">
          <p14:sldIdLst>
            <p14:sldId id="267"/>
            <p14:sldId id="268"/>
            <p14:sldId id="278"/>
            <p14:sldId id="271"/>
            <p14:sldId id="270"/>
            <p14:sldId id="272"/>
            <p14:sldId id="274"/>
            <p14:sldId id="275"/>
            <p14:sldId id="276"/>
            <p14:sldId id="277"/>
            <p14:sldId id="280"/>
            <p14:sldId id="281"/>
            <p14:sldId id="282"/>
          </p14:sldIdLst>
        </p14:section>
        <p14:section name="内容" id="{6DE9C161-11E5-42C3-AC62-513A9F41A2C0}">
          <p14:sldIdLst/>
        </p14:section>
        <p14:section name="封底" id="{CC62FC00-6FF8-41DE-A51D-818F07373A21}">
          <p14:sldIdLst>
            <p14:sldId id="265"/>
          </p14:sldIdLst>
        </p14:section>
        <p14:section name="模板" id="{733F165D-940F-457C-8428-FB9FC2437072}">
          <p14:sldIdLst>
            <p14:sldId id="261"/>
            <p14:sldId id="262"/>
            <p14:sldId id="263"/>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王哲" initials="王哲" lastIdx="1" clrIdx="0">
    <p:extLst>
      <p:ext uri="{19B8F6BF-5375-455C-9EA6-DF929625EA0E}">
        <p15:presenceInfo xmlns:p15="http://schemas.microsoft.com/office/powerpoint/2012/main" userId="021727b10dee656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56B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629" autoAdjust="0"/>
    <p:restoredTop sz="76693" autoAdjust="0"/>
  </p:normalViewPr>
  <p:slideViewPr>
    <p:cSldViewPr snapToGrid="0">
      <p:cViewPr varScale="1">
        <p:scale>
          <a:sx n="41" d="100"/>
          <a:sy n="41" d="100"/>
        </p:scale>
        <p:origin x="37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EDCCA9DB-6B9B-4F98-A8AB-A47143A337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A63B35DC-1C3B-4322-9318-662B741903E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190316-EA23-4F22-B9ED-FC287165A285}" type="datetimeFigureOut">
              <a:rPr lang="zh-CN" altLang="en-US" smtClean="0"/>
              <a:t>2018/4/1 Sunday</a:t>
            </a:fld>
            <a:endParaRPr lang="zh-CN" altLang="en-US"/>
          </a:p>
        </p:txBody>
      </p:sp>
      <p:sp>
        <p:nvSpPr>
          <p:cNvPr id="4" name="页脚占位符 3">
            <a:extLst>
              <a:ext uri="{FF2B5EF4-FFF2-40B4-BE49-F238E27FC236}">
                <a16:creationId xmlns:a16="http://schemas.microsoft.com/office/drawing/2014/main" id="{C3F4CCA7-2E27-4BD1-A832-12D8C7E5937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ACA41ABF-12E9-496D-A633-D1B459790B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9A37EA2-8E01-46E1-9B73-26CB7D68B49D}" type="slidenum">
              <a:rPr lang="zh-CN" altLang="en-US" smtClean="0"/>
              <a:t>‹#›</a:t>
            </a:fld>
            <a:endParaRPr lang="zh-CN" altLang="en-US"/>
          </a:p>
        </p:txBody>
      </p:sp>
    </p:spTree>
    <p:extLst>
      <p:ext uri="{BB962C8B-B14F-4D97-AF65-F5344CB8AC3E}">
        <p14:creationId xmlns:p14="http://schemas.microsoft.com/office/powerpoint/2010/main" val="140189713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4390CE-8AF9-4917-B3E5-984B9B8A1461}" type="datetimeFigureOut">
              <a:rPr lang="zh-CN" altLang="en-US" smtClean="0"/>
              <a:t>2018/4/1 Sunday</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1986CC-EFFE-4EE8-8E6E-74664D7EC66F}" type="slidenum">
              <a:rPr lang="zh-CN" altLang="en-US" smtClean="0"/>
              <a:t>‹#›</a:t>
            </a:fld>
            <a:endParaRPr lang="zh-CN" altLang="en-US"/>
          </a:p>
        </p:txBody>
      </p:sp>
    </p:spTree>
    <p:extLst>
      <p:ext uri="{BB962C8B-B14F-4D97-AF65-F5344CB8AC3E}">
        <p14:creationId xmlns:p14="http://schemas.microsoft.com/office/powerpoint/2010/main" val="177522004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肠道微生物组学研究确定疾病特异性和共同反应的荟萃分析</a:t>
            </a:r>
          </a:p>
          <a:p>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1</a:t>
            </a:fld>
            <a:endParaRPr lang="zh-CN" altLang="en-US"/>
          </a:p>
        </p:txBody>
      </p:sp>
    </p:spTree>
    <p:extLst>
      <p:ext uri="{BB962C8B-B14F-4D97-AF65-F5344CB8AC3E}">
        <p14:creationId xmlns:p14="http://schemas.microsoft.com/office/powerpoint/2010/main" val="29581041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大多数疾病状态显示改变的微生物群。</a:t>
            </a:r>
            <a:br>
              <a:rPr lang="zh-CN" altLang="en-US" dirty="0"/>
            </a:br>
            <a:r>
              <a:rPr lang="zh-CN" altLang="en-US" sz="1200" b="0" i="0" kern="1200" dirty="0">
                <a:solidFill>
                  <a:schemeClr val="tx1"/>
                </a:solidFill>
                <a:effectLst/>
                <a:latin typeface="+mn-lt"/>
                <a:ea typeface="+mn-ea"/>
                <a:cs typeface="+mn-cs"/>
              </a:rPr>
              <a:t>有益微生物的丧失或病原体的富集。</a:t>
            </a:r>
            <a:br>
              <a:rPr lang="zh-CN" altLang="en-US" dirty="0"/>
            </a:br>
            <a:r>
              <a:rPr lang="zh-CN" altLang="en-US" sz="1200" b="0" i="0" kern="1200" dirty="0">
                <a:solidFill>
                  <a:schemeClr val="tx1"/>
                </a:solidFill>
                <a:effectLst/>
                <a:latin typeface="+mn-lt"/>
                <a:ea typeface="+mn-ea"/>
                <a:cs typeface="+mn-cs"/>
              </a:rPr>
              <a:t>分享与疾病特异性微生物反应。</a:t>
            </a:r>
            <a:br>
              <a:rPr lang="zh-CN" altLang="en-US" dirty="0"/>
            </a:br>
            <a:r>
              <a:rPr lang="zh-CN" altLang="en-US" sz="1200" b="0" i="0" kern="1200" dirty="0">
                <a:solidFill>
                  <a:schemeClr val="tx1"/>
                </a:solidFill>
                <a:effectLst/>
                <a:latin typeface="+mn-lt"/>
                <a:ea typeface="+mn-ea"/>
                <a:cs typeface="+mn-cs"/>
              </a:rPr>
              <a:t>内部和交叉疾病荟萃分析提高了解释性。</a:t>
            </a:r>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5</a:t>
            </a:fld>
            <a:endParaRPr lang="zh-CN" altLang="en-US"/>
          </a:p>
        </p:txBody>
      </p:sp>
    </p:spTree>
    <p:extLst>
      <p:ext uri="{BB962C8B-B14F-4D97-AF65-F5344CB8AC3E}">
        <p14:creationId xmlns:p14="http://schemas.microsoft.com/office/powerpoint/2010/main" val="863543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建立了属级随机森林分类器，以便对每个研究中的对照病例进行分类</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B2.</a:t>
            </a:r>
            <a:r>
              <a:rPr lang="zh-CN" altLang="en-US" sz="1200" b="0" i="0" kern="1200" dirty="0">
                <a:solidFill>
                  <a:schemeClr val="tx1"/>
                </a:solidFill>
                <a:effectLst/>
                <a:latin typeface="+mn-lt"/>
                <a:ea typeface="+mn-ea"/>
                <a:cs typeface="+mn-cs"/>
              </a:rPr>
              <a:t>变化属的数目</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B3.</a:t>
            </a:r>
            <a:r>
              <a:rPr lang="zh-CN" altLang="en-US" sz="1200" b="0" i="0" kern="1200" dirty="0">
                <a:solidFill>
                  <a:schemeClr val="tx1"/>
                </a:solidFill>
                <a:effectLst/>
                <a:latin typeface="+mn-lt"/>
                <a:ea typeface="+mn-ea"/>
                <a:cs typeface="+mn-cs"/>
              </a:rPr>
              <a:t>有益菌衰竭</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有害菌增多</a:t>
            </a:r>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7</a:t>
            </a:fld>
            <a:endParaRPr lang="zh-CN" altLang="en-US"/>
          </a:p>
        </p:txBody>
      </p:sp>
    </p:spTree>
    <p:extLst>
      <p:ext uri="{BB962C8B-B14F-4D97-AF65-F5344CB8AC3E}">
        <p14:creationId xmlns:p14="http://schemas.microsoft.com/office/powerpoint/2010/main" val="848424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大多数与疾病相关的微生物组织关联与对疾病的非特异性微生物反应重叠</a:t>
            </a:r>
          </a:p>
          <a:p>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非特异性和疾病相关属</a:t>
            </a:r>
            <a:endParaRPr lang="en-US" altLang="zh-CN" dirty="0"/>
          </a:p>
          <a:p>
            <a:r>
              <a:rPr lang="en-US" altLang="zh-CN" dirty="0"/>
              <a:t>b.</a:t>
            </a:r>
            <a:r>
              <a:rPr lang="zh-CN" altLang="en-US" sz="1200" b="0" i="0" kern="1200" dirty="0">
                <a:solidFill>
                  <a:schemeClr val="tx1"/>
                </a:solidFill>
                <a:effectLst/>
                <a:latin typeface="+mn-lt"/>
                <a:ea typeface="+mn-ea"/>
                <a:cs typeface="+mn-cs"/>
              </a:rPr>
              <a:t>部分与非特定细菌重叠</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丰度普遍存在</a:t>
            </a:r>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9</a:t>
            </a:fld>
            <a:endParaRPr lang="zh-CN" altLang="en-US"/>
          </a:p>
        </p:txBody>
      </p:sp>
    </p:spTree>
    <p:extLst>
      <p:ext uri="{BB962C8B-B14F-4D97-AF65-F5344CB8AC3E}">
        <p14:creationId xmlns:p14="http://schemas.microsoft.com/office/powerpoint/2010/main" val="2568945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0" kern="1200" dirty="0">
                <a:solidFill>
                  <a:schemeClr val="tx1"/>
                </a:solidFill>
                <a:effectLst/>
                <a:latin typeface="+mn-lt"/>
                <a:ea typeface="+mn-ea"/>
                <a:cs typeface="+mn-cs"/>
              </a:rPr>
              <a:t>16S</a:t>
            </a:r>
            <a:r>
              <a:rPr lang="zh-CN" altLang="en-US" sz="1200" b="1" i="0" kern="1200" dirty="0">
                <a:solidFill>
                  <a:schemeClr val="tx1"/>
                </a:solidFill>
                <a:effectLst/>
                <a:latin typeface="+mn-lt"/>
                <a:ea typeface="+mn-ea"/>
                <a:cs typeface="+mn-cs"/>
              </a:rPr>
              <a:t>处理</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i="0" kern="1200" dirty="0">
                <a:solidFill>
                  <a:schemeClr val="tx1"/>
                </a:solidFill>
                <a:effectLst/>
                <a:latin typeface="+mn-lt"/>
                <a:ea typeface="+mn-ea"/>
                <a:cs typeface="+mn-cs"/>
              </a:rPr>
              <a:t>微生物群落分析</a:t>
            </a:r>
          </a:p>
          <a:p>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11</a:t>
            </a:fld>
            <a:endParaRPr lang="zh-CN" altLang="en-US"/>
          </a:p>
        </p:txBody>
      </p:sp>
    </p:spTree>
    <p:extLst>
      <p:ext uri="{BB962C8B-B14F-4D97-AF65-F5344CB8AC3E}">
        <p14:creationId xmlns:p14="http://schemas.microsoft.com/office/powerpoint/2010/main" val="21395236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鉴定某些疾病的微生物生物标志物</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看一下这些菌属</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门用于区分疾病健康是否合理</a:t>
            </a:r>
            <a:r>
              <a:rPr lang="en-US" altLang="zh-CN" sz="1200" b="0" i="0" kern="1200" dirty="0">
                <a:solidFill>
                  <a:schemeClr val="tx1"/>
                </a:solidFill>
                <a:effectLst/>
                <a:latin typeface="+mn-lt"/>
                <a:ea typeface="+mn-ea"/>
                <a:cs typeface="+mn-cs"/>
              </a:rPr>
              <a:t>.</a:t>
            </a:r>
          </a:p>
          <a:p>
            <a:r>
              <a:rPr lang="zh-CN" altLang="en-US" sz="1200" b="0" i="0" kern="1200" dirty="0">
                <a:solidFill>
                  <a:schemeClr val="tx1"/>
                </a:solidFill>
                <a:effectLst/>
                <a:latin typeface="+mn-lt"/>
                <a:ea typeface="+mn-ea"/>
                <a:cs typeface="+mn-cs"/>
              </a:rPr>
              <a:t>通过肠道菌区分健康与亚健康</a:t>
            </a:r>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12</a:t>
            </a:fld>
            <a:endParaRPr lang="zh-CN" altLang="en-US"/>
          </a:p>
        </p:txBody>
      </p:sp>
    </p:spTree>
    <p:extLst>
      <p:ext uri="{BB962C8B-B14F-4D97-AF65-F5344CB8AC3E}">
        <p14:creationId xmlns:p14="http://schemas.microsoft.com/office/powerpoint/2010/main" val="1095060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鉴定某些疾病的微生物生物标志物</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肠道菌与亚健康</a:t>
            </a:r>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13</a:t>
            </a:fld>
            <a:endParaRPr lang="zh-CN" altLang="en-US"/>
          </a:p>
        </p:txBody>
      </p:sp>
    </p:spTree>
    <p:extLst>
      <p:ext uri="{BB962C8B-B14F-4D97-AF65-F5344CB8AC3E}">
        <p14:creationId xmlns:p14="http://schemas.microsoft.com/office/powerpoint/2010/main" val="23962064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鉴定某些疾病的微生物生物标志物</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肠道菌与亚健康</a:t>
            </a:r>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14</a:t>
            </a:fld>
            <a:endParaRPr lang="zh-CN" altLang="en-US"/>
          </a:p>
        </p:txBody>
      </p:sp>
    </p:spTree>
    <p:extLst>
      <p:ext uri="{BB962C8B-B14F-4D97-AF65-F5344CB8AC3E}">
        <p14:creationId xmlns:p14="http://schemas.microsoft.com/office/powerpoint/2010/main" val="36192183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鉴定某些疾病的微生物生物标志物</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肠道菌与亚健康</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a:solidFill>
                  <a:schemeClr val="tx1"/>
                </a:solidFill>
                <a:effectLst/>
                <a:latin typeface="+mn-lt"/>
                <a:ea typeface="+mn-ea"/>
                <a:cs typeface="+mn-cs"/>
              </a:rPr>
              <a:t>CD</a:t>
            </a:r>
            <a:r>
              <a:rPr lang="zh-CN" altLang="zh-CN" sz="1200" kern="1200" dirty="0">
                <a:solidFill>
                  <a:schemeClr val="tx1"/>
                </a:solidFill>
                <a:effectLst/>
                <a:latin typeface="+mn-lt"/>
                <a:ea typeface="+mn-ea"/>
                <a:cs typeface="+mn-cs"/>
              </a:rPr>
              <a:t>指标变化趋势相同的有</a:t>
            </a:r>
            <a:r>
              <a:rPr lang="en-US" altLang="zh-CN" sz="1200" kern="1200" dirty="0">
                <a:solidFill>
                  <a:schemeClr val="tx1"/>
                </a:solidFill>
                <a:effectLst/>
                <a:latin typeface="+mn-lt"/>
                <a:ea typeface="+mn-ea"/>
                <a:cs typeface="+mn-cs"/>
              </a:rPr>
              <a:t>6,11</a:t>
            </a:r>
            <a:r>
              <a:rPr lang="zh-CN" altLang="zh-CN" sz="1200" kern="1200" dirty="0">
                <a:solidFill>
                  <a:schemeClr val="tx1"/>
                </a:solidFill>
                <a:effectLst/>
                <a:latin typeface="+mn-lt"/>
                <a:ea typeface="+mn-ea"/>
                <a:cs typeface="+mn-cs"/>
              </a:rPr>
              <a:t>都是增多</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g__Bifidobacterium</a:t>
            </a:r>
            <a:r>
              <a:rPr lang="en-US" altLang="zh-CN" sz="1200" kern="1200" dirty="0">
                <a:solidFill>
                  <a:schemeClr val="tx1"/>
                </a:solidFill>
                <a:effectLst/>
                <a:latin typeface="+mn-lt"/>
                <a:ea typeface="+mn-ea"/>
                <a:cs typeface="+mn-cs"/>
              </a:rPr>
              <a:t>(06): </a:t>
            </a:r>
            <a:r>
              <a:rPr lang="zh-CN" altLang="zh-CN" sz="1200" kern="1200" dirty="0">
                <a:solidFill>
                  <a:schemeClr val="tx1"/>
                </a:solidFill>
                <a:effectLst/>
                <a:latin typeface="+mn-lt"/>
                <a:ea typeface="+mn-ea"/>
                <a:cs typeface="+mn-cs"/>
              </a:rPr>
              <a:t>是人和许多哺乳动物肠道中的优势菌之一</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g__Lactobacillus</a:t>
            </a:r>
            <a:r>
              <a:rPr lang="en-US" altLang="zh-CN" sz="1200" kern="1200" dirty="0">
                <a:solidFill>
                  <a:schemeClr val="tx1"/>
                </a:solidFill>
                <a:effectLst/>
                <a:latin typeface="+mn-lt"/>
                <a:ea typeface="+mn-ea"/>
                <a:cs typeface="+mn-cs"/>
              </a:rPr>
              <a:t>(11): </a:t>
            </a:r>
            <a:r>
              <a:rPr lang="zh-CN" altLang="zh-CN" sz="1200" kern="1200" dirty="0">
                <a:solidFill>
                  <a:schemeClr val="tx1"/>
                </a:solidFill>
                <a:effectLst/>
                <a:latin typeface="+mn-lt"/>
                <a:ea typeface="+mn-ea"/>
                <a:cs typeface="+mn-cs"/>
              </a:rPr>
              <a:t>活性乳酸菌</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可以看出文献</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的数据普遍很大</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从文献中得知第一篇文献使用</a:t>
            </a:r>
            <a:r>
              <a:rPr lang="en-US" altLang="zh-CN" sz="1200" kern="1200" dirty="0" err="1">
                <a:solidFill>
                  <a:schemeClr val="tx1"/>
                </a:solidFill>
                <a:effectLst/>
                <a:latin typeface="+mn-lt"/>
                <a:ea typeface="+mn-ea"/>
                <a:cs typeface="+mn-cs"/>
              </a:rPr>
              <a:t>Miseq</a:t>
            </a:r>
            <a:r>
              <a:rPr lang="zh-CN" altLang="zh-CN" sz="1200" kern="1200" dirty="0">
                <a:solidFill>
                  <a:schemeClr val="tx1"/>
                </a:solidFill>
                <a:effectLst/>
                <a:latin typeface="+mn-lt"/>
                <a:ea typeface="+mn-ea"/>
                <a:cs typeface="+mn-cs"/>
              </a:rPr>
              <a:t>不同于</a:t>
            </a:r>
            <a:r>
              <a:rPr lang="en-US" altLang="zh-CN" sz="1200" kern="1200" dirty="0">
                <a:solidFill>
                  <a:schemeClr val="tx1"/>
                </a:solidFill>
                <a:effectLst/>
                <a:latin typeface="+mn-lt"/>
                <a:ea typeface="+mn-ea"/>
                <a:cs typeface="+mn-cs"/>
              </a:rPr>
              <a:t>2,3,4</a:t>
            </a:r>
            <a:r>
              <a:rPr lang="zh-CN" altLang="zh-CN" sz="1200" kern="1200" dirty="0">
                <a:solidFill>
                  <a:schemeClr val="tx1"/>
                </a:solidFill>
                <a:effectLst/>
                <a:latin typeface="+mn-lt"/>
                <a:ea typeface="+mn-ea"/>
                <a:cs typeface="+mn-cs"/>
              </a:rPr>
              <a:t>的</a:t>
            </a:r>
            <a:r>
              <a:rPr lang="en-US" altLang="zh-CN" sz="1200" kern="1200" dirty="0">
                <a:solidFill>
                  <a:schemeClr val="tx1"/>
                </a:solidFill>
                <a:effectLst/>
                <a:latin typeface="+mn-lt"/>
                <a:ea typeface="+mn-ea"/>
                <a:cs typeface="+mn-cs"/>
              </a:rPr>
              <a:t>454</a:t>
            </a:r>
            <a:r>
              <a:rPr lang="zh-CN" altLang="zh-CN" sz="1200" kern="1200" dirty="0">
                <a:solidFill>
                  <a:schemeClr val="tx1"/>
                </a:solidFill>
                <a:effectLst/>
                <a:latin typeface="+mn-lt"/>
                <a:ea typeface="+mn-ea"/>
                <a:cs typeface="+mn-cs"/>
              </a:rPr>
              <a:t>测序方法</a:t>
            </a:r>
            <a:r>
              <a:rPr lang="en-US" altLang="zh-CN" sz="1200" kern="1200" dirty="0">
                <a:solidFill>
                  <a:schemeClr val="tx1"/>
                </a:solidFill>
                <a:effectLst/>
                <a:latin typeface="+mn-lt"/>
                <a:ea typeface="+mn-ea"/>
                <a:cs typeface="+mn-cs"/>
              </a:rPr>
              <a:t>, 4</a:t>
            </a:r>
            <a:r>
              <a:rPr lang="zh-CN" altLang="zh-CN" sz="1200" kern="1200" dirty="0">
                <a:solidFill>
                  <a:schemeClr val="tx1"/>
                </a:solidFill>
                <a:effectLst/>
                <a:latin typeface="+mn-lt"/>
                <a:ea typeface="+mn-ea"/>
                <a:cs typeface="+mn-cs"/>
              </a:rPr>
              <a:t>篇文献的扩增子扩增区域分别为</a:t>
            </a:r>
            <a:r>
              <a:rPr lang="en-US" altLang="zh-CN" sz="1200" kern="1200" dirty="0">
                <a:solidFill>
                  <a:schemeClr val="tx1"/>
                </a:solidFill>
                <a:effectLst/>
                <a:latin typeface="+mn-lt"/>
                <a:ea typeface="+mn-ea"/>
                <a:cs typeface="+mn-cs"/>
              </a:rPr>
              <a:t>V4,V3-V5,V3-V5,V5-V6</a:t>
            </a:r>
            <a:r>
              <a:rPr lang="zh-CN" altLang="zh-CN" sz="1200" kern="1200" dirty="0">
                <a:solidFill>
                  <a:schemeClr val="tx1"/>
                </a:solidFill>
                <a:effectLst/>
                <a:latin typeface="+mn-lt"/>
                <a:ea typeface="+mn-ea"/>
                <a:cs typeface="+mn-cs"/>
              </a:rPr>
              <a:t>区段</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15</a:t>
            </a:fld>
            <a:endParaRPr lang="zh-CN" altLang="en-US"/>
          </a:p>
        </p:txBody>
      </p:sp>
    </p:spTree>
    <p:extLst>
      <p:ext uri="{BB962C8B-B14F-4D97-AF65-F5344CB8AC3E}">
        <p14:creationId xmlns:p14="http://schemas.microsoft.com/office/powerpoint/2010/main" val="14573834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橘色字体</a:t>
            </a:r>
            <a:r>
              <a:rPr lang="en-US" altLang="zh-CN" dirty="0"/>
              <a:t>:</a:t>
            </a:r>
            <a:r>
              <a:rPr lang="zh-CN" altLang="en-US" dirty="0"/>
              <a:t>论文相关</a:t>
            </a:r>
            <a:r>
              <a:rPr lang="en-US" altLang="zh-CN" dirty="0"/>
              <a:t>,</a:t>
            </a:r>
            <a:r>
              <a:rPr lang="zh-CN" altLang="en-US" dirty="0"/>
              <a:t>中文题目</a:t>
            </a:r>
            <a:endParaRPr lang="en-US" altLang="zh-CN" dirty="0"/>
          </a:p>
          <a:p>
            <a:r>
              <a:rPr lang="zh-CN" altLang="en-US" dirty="0"/>
              <a:t>白色字体</a:t>
            </a:r>
            <a:r>
              <a:rPr lang="en-US" altLang="zh-CN" dirty="0"/>
              <a:t>:</a:t>
            </a:r>
            <a:r>
              <a:rPr lang="zh-CN" altLang="en-US" dirty="0"/>
              <a:t>作者相关</a:t>
            </a:r>
            <a:r>
              <a:rPr lang="en-US" altLang="zh-CN" dirty="0"/>
              <a:t>,</a:t>
            </a:r>
            <a:r>
              <a:rPr lang="zh-CN" altLang="en-US" dirty="0"/>
              <a:t>英文题目</a:t>
            </a:r>
          </a:p>
        </p:txBody>
      </p:sp>
      <p:sp>
        <p:nvSpPr>
          <p:cNvPr id="4" name="灯片编号占位符 3"/>
          <p:cNvSpPr>
            <a:spLocks noGrp="1"/>
          </p:cNvSpPr>
          <p:nvPr>
            <p:ph type="sldNum" sz="quarter" idx="10"/>
          </p:nvPr>
        </p:nvSpPr>
        <p:spPr/>
        <p:txBody>
          <a:bodyPr/>
          <a:lstStyle/>
          <a:p>
            <a:fld id="{3C1986CC-EFFE-4EE8-8E6E-74664D7EC66F}" type="slidenum">
              <a:rPr lang="zh-CN" altLang="en-US" smtClean="0"/>
              <a:t>17</a:t>
            </a:fld>
            <a:endParaRPr lang="zh-CN" altLang="en-US"/>
          </a:p>
        </p:txBody>
      </p:sp>
    </p:spTree>
    <p:extLst>
      <p:ext uri="{BB962C8B-B14F-4D97-AF65-F5344CB8AC3E}">
        <p14:creationId xmlns:p14="http://schemas.microsoft.com/office/powerpoint/2010/main" val="31292633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Part I</a:t>
            </a:r>
          </a:p>
          <a:p>
            <a:r>
              <a:rPr lang="en-US" altLang="zh-CN" dirty="0"/>
              <a:t>Q1:</a:t>
            </a:r>
            <a:endParaRPr lang="zh-CN" altLang="en-US" dirty="0"/>
          </a:p>
        </p:txBody>
      </p:sp>
      <p:sp>
        <p:nvSpPr>
          <p:cNvPr id="4" name="灯片编号占位符 3"/>
          <p:cNvSpPr>
            <a:spLocks noGrp="1"/>
          </p:cNvSpPr>
          <p:nvPr>
            <p:ph type="sldNum" sz="quarter" idx="10"/>
          </p:nvPr>
        </p:nvSpPr>
        <p:spPr/>
        <p:txBody>
          <a:bodyPr/>
          <a:lstStyle/>
          <a:p>
            <a:fld id="{3C1986CC-EFFE-4EE8-8E6E-74664D7EC66F}" type="slidenum">
              <a:rPr lang="zh-CN" altLang="en-US" smtClean="0"/>
              <a:t>18</a:t>
            </a:fld>
            <a:endParaRPr lang="zh-CN" altLang="en-US"/>
          </a:p>
        </p:txBody>
      </p:sp>
    </p:spTree>
    <p:extLst>
      <p:ext uri="{BB962C8B-B14F-4D97-AF65-F5344CB8AC3E}">
        <p14:creationId xmlns:p14="http://schemas.microsoft.com/office/powerpoint/2010/main" val="230377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A90D0FB9-73E7-4D64-A380-C02617B49417}" type="datetime1">
              <a:rPr lang="zh-CN" altLang="en-US" smtClean="0"/>
              <a:t>2018/4/2 Monday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C4B9C9-2132-4B7A-9A0A-4FEC6FBD50BE}" type="slidenum">
              <a:rPr lang="zh-CN" altLang="en-US" smtClean="0"/>
              <a:t>‹#›</a:t>
            </a:fld>
            <a:endParaRPr lang="zh-CN" altLang="en-US" dirty="0"/>
          </a:p>
        </p:txBody>
      </p:sp>
    </p:spTree>
    <p:extLst>
      <p:ext uri="{BB962C8B-B14F-4D97-AF65-F5344CB8AC3E}">
        <p14:creationId xmlns:p14="http://schemas.microsoft.com/office/powerpoint/2010/main" val="1772358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D6D06D6-2473-4919-8DB8-6C286F515F9A}" type="datetime1">
              <a:rPr lang="zh-CN" altLang="en-US" smtClean="0"/>
              <a:t>2018/4/2 Monday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3750933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D932345F-0A07-4AE3-8C89-F1FB12D7ED2A}" type="datetime1">
              <a:rPr lang="zh-CN" altLang="en-US" smtClean="0"/>
              <a:t>2018/4/2 Monday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832789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44FE569-70F4-48A2-A32A-BF37B1BDBEE7}" type="datetime1">
              <a:rPr lang="zh-CN" altLang="en-US" smtClean="0"/>
              <a:t>2018/4/2 Monday</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358325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66991D88-C716-4FD7-AE1B-2BFAA9A41018}" type="datetime1">
              <a:rPr lang="zh-CN" altLang="en-US" smtClean="0"/>
              <a:t>2018/4/2 Monday</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2341111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61028C1-613F-41CD-8AE7-32ED343C039C}" type="datetime1">
              <a:rPr lang="zh-CN" altLang="en-US" smtClean="0"/>
              <a:t>2018/4/2 Monday</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1348065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5B4B8D-B1BE-4B0E-BBDB-09439A424F21}" type="datetime1">
              <a:rPr lang="zh-CN" altLang="en-US" smtClean="0"/>
              <a:t>2018/4/2 Monday</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3016969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1924CD84-141B-4849-92A6-7F6FF1ED6822}" type="datetime1">
              <a:rPr lang="zh-CN" altLang="en-US" smtClean="0"/>
              <a:t>2018/4/2 Monday</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2509748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466E76C1-7CE1-4A0D-A0DD-27E15B769588}" type="datetime1">
              <a:rPr lang="zh-CN" altLang="en-US" smtClean="0"/>
              <a:t>2018/4/2 Monday</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664006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D74965B-0018-4598-B829-3678AF8ECA1F}" type="datetime1">
              <a:rPr lang="zh-CN" altLang="en-US" smtClean="0"/>
              <a:t>2018/4/2 Monday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3767465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570B4F7-70DA-49CE-A9D9-02D7A85CA324}" type="datetime1">
              <a:rPr lang="zh-CN" altLang="en-US" smtClean="0"/>
              <a:t>2018/4/2 Monday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2598587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282EE7-F834-45B7-BC64-FBFABEF91951}" type="datetime1">
              <a:rPr lang="zh-CN" altLang="en-US" smtClean="0"/>
              <a:t>2018/4/2 Monday</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a:solidFill>
                  <a:srgbClr val="FF0000"/>
                </a:solidFill>
              </a:defRPr>
            </a:lvl1pPr>
          </a:lstStyle>
          <a:p>
            <a:fld id="{53C4B9C9-2132-4B7A-9A0A-4FEC6FBD50BE}" type="slidenum">
              <a:rPr lang="zh-CN" altLang="en-US" smtClean="0"/>
              <a:pPr/>
              <a:t>‹#›</a:t>
            </a:fld>
            <a:endParaRPr lang="zh-CN" altLang="en-US" dirty="0"/>
          </a:p>
        </p:txBody>
      </p:sp>
    </p:spTree>
    <p:extLst>
      <p:ext uri="{BB962C8B-B14F-4D97-AF65-F5344CB8AC3E}">
        <p14:creationId xmlns:p14="http://schemas.microsoft.com/office/powerpoint/2010/main" val="2127449443"/>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z1z2bz3@163.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6.xml.rels><?xml version="1.0" encoding="UTF-8" standalone="yes"?>
<Relationships xmlns="http://schemas.openxmlformats.org/package/2006/relationships"><Relationship Id="rId2" Type="http://schemas.openxmlformats.org/officeDocument/2006/relationships/hyperlink" Target="mailto:z1z2bz3@163.com"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11197" y="4892039"/>
            <a:ext cx="12192000" cy="1965960"/>
          </a:xfrm>
          <a:prstGeom prst="rect">
            <a:avLst/>
          </a:prstGeom>
          <a:gradFill flip="none" rotWithShape="1">
            <a:gsLst>
              <a:gs pos="23000">
                <a:srgbClr val="939393">
                  <a:lumMod val="96000"/>
                </a:srgbClr>
              </a:gs>
              <a:gs pos="22281">
                <a:srgbClr val="939393"/>
              </a:gs>
              <a:gs pos="21562">
                <a:srgbClr val="939393"/>
              </a:gs>
              <a:gs pos="20125">
                <a:srgbClr val="939393"/>
              </a:gs>
              <a:gs pos="17250">
                <a:srgbClr val="939393"/>
              </a:gs>
              <a:gs pos="11500">
                <a:srgbClr val="939393"/>
              </a:gs>
              <a:gs pos="0">
                <a:schemeClr val="accent3">
                  <a:lumMod val="89000"/>
                </a:schemeClr>
              </a:gs>
              <a:gs pos="23000">
                <a:schemeClr val="accent3">
                  <a:lumMod val="89000"/>
                </a:schemeClr>
              </a:gs>
              <a:gs pos="69000">
                <a:schemeClr val="accent3">
                  <a:lumMod val="75000"/>
                </a:schemeClr>
              </a:gs>
              <a:gs pos="97000">
                <a:schemeClr val="accent3">
                  <a:lumMod val="7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4892039"/>
            <a:ext cx="12192000" cy="288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chemeClr val="tx1"/>
                </a:solidFill>
              </a:ln>
            </a:endParaRPr>
          </a:p>
        </p:txBody>
      </p:sp>
      <p:sp>
        <p:nvSpPr>
          <p:cNvPr id="2" name="文本框 1">
            <a:extLst>
              <a:ext uri="{FF2B5EF4-FFF2-40B4-BE49-F238E27FC236}">
                <a16:creationId xmlns:a16="http://schemas.microsoft.com/office/drawing/2014/main" id="{D768FFF2-9E9B-4F5E-921A-00CE957C184B}"/>
              </a:ext>
            </a:extLst>
          </p:cNvPr>
          <p:cNvSpPr txBox="1"/>
          <p:nvPr/>
        </p:nvSpPr>
        <p:spPr>
          <a:xfrm>
            <a:off x="1234440" y="5274855"/>
            <a:ext cx="5471160" cy="1200329"/>
          </a:xfrm>
          <a:prstGeom prst="rect">
            <a:avLst/>
          </a:prstGeom>
          <a:noFill/>
        </p:spPr>
        <p:txBody>
          <a:bodyPr wrap="square" rtlCol="0">
            <a:spAutoFit/>
          </a:bodyPr>
          <a:lstStyle/>
          <a:p>
            <a:r>
              <a:rPr lang="en-US" altLang="zh-CN" sz="2400" b="1" dirty="0">
                <a:solidFill>
                  <a:srgbClr val="FFFFFF"/>
                </a:solidFill>
                <a:latin typeface="Arial" panose="020B0604020202020204" pitchFamily="34" charset="0"/>
              </a:rPr>
              <a:t>Name: Wang </a:t>
            </a:r>
            <a:r>
              <a:rPr lang="en-US" altLang="zh-CN" sz="2400" b="1" dirty="0" err="1">
                <a:solidFill>
                  <a:srgbClr val="FFFFFF"/>
                </a:solidFill>
                <a:latin typeface="Arial" panose="020B0604020202020204" pitchFamily="34" charset="0"/>
              </a:rPr>
              <a:t>Zhe</a:t>
            </a:r>
            <a:endParaRPr lang="en-US" altLang="zh-CN" sz="2400" b="1" dirty="0">
              <a:solidFill>
                <a:srgbClr val="FFFFFF"/>
              </a:solidFill>
              <a:latin typeface="Arial" panose="020B0604020202020204" pitchFamily="34" charset="0"/>
            </a:endParaRPr>
          </a:p>
          <a:p>
            <a:r>
              <a:rPr lang="en-US" altLang="zh-CN" sz="2400" b="1" dirty="0">
                <a:solidFill>
                  <a:srgbClr val="FFFFFF"/>
                </a:solidFill>
                <a:latin typeface="Arial" panose="020B0604020202020204" pitchFamily="34" charset="0"/>
              </a:rPr>
              <a:t>Email</a:t>
            </a:r>
            <a:r>
              <a:rPr lang="en-US" altLang="zh-CN" sz="2400" b="1" dirty="0">
                <a:latin typeface="Arial" panose="020B0604020202020204" pitchFamily="34" charset="0"/>
              </a:rPr>
              <a:t>: </a:t>
            </a:r>
            <a:r>
              <a:rPr lang="en-US" altLang="zh-CN" sz="2400" b="1" dirty="0">
                <a:latin typeface="Arial" panose="020B0604020202020204" pitchFamily="34" charset="0"/>
                <a:hlinkClick r:id="rId3"/>
              </a:rPr>
              <a:t>z1z2bz3@163.com</a:t>
            </a:r>
            <a:endParaRPr lang="en-US" altLang="zh-CN" sz="2400" b="1" dirty="0">
              <a:latin typeface="Arial" panose="020B0604020202020204" pitchFamily="34" charset="0"/>
            </a:endParaRPr>
          </a:p>
          <a:p>
            <a:r>
              <a:rPr lang="en-US" altLang="zh-CN" sz="2400" b="1" dirty="0">
                <a:solidFill>
                  <a:srgbClr val="FFFFFF"/>
                </a:solidFill>
                <a:latin typeface="Arial" panose="020B0604020202020204" pitchFamily="34" charset="0"/>
              </a:rPr>
              <a:t>Date: 2018</a:t>
            </a:r>
            <a:r>
              <a:rPr lang="zh-CN" altLang="en-US" sz="2400" b="1" dirty="0">
                <a:solidFill>
                  <a:srgbClr val="FFFFFF"/>
                </a:solidFill>
                <a:latin typeface="Arial" panose="020B0604020202020204" pitchFamily="34" charset="0"/>
              </a:rPr>
              <a:t>年</a:t>
            </a:r>
            <a:r>
              <a:rPr lang="en-US" altLang="zh-CN" sz="2400" b="1" dirty="0">
                <a:solidFill>
                  <a:srgbClr val="FFFFFF"/>
                </a:solidFill>
                <a:latin typeface="Arial" panose="020B0604020202020204" pitchFamily="34" charset="0"/>
              </a:rPr>
              <a:t>4</a:t>
            </a:r>
            <a:r>
              <a:rPr lang="zh-CN" altLang="en-US" sz="2400" b="1" dirty="0">
                <a:solidFill>
                  <a:srgbClr val="FFFFFF"/>
                </a:solidFill>
                <a:latin typeface="Arial" panose="020B0604020202020204" pitchFamily="34" charset="0"/>
              </a:rPr>
              <a:t>月</a:t>
            </a:r>
            <a:r>
              <a:rPr lang="en-US" altLang="zh-CN" sz="2400" b="1" dirty="0">
                <a:solidFill>
                  <a:srgbClr val="FFFFFF"/>
                </a:solidFill>
                <a:latin typeface="Arial" panose="020B0604020202020204" pitchFamily="34" charset="0"/>
              </a:rPr>
              <a:t>2</a:t>
            </a:r>
            <a:r>
              <a:rPr lang="zh-CN" altLang="en-US" sz="2400" b="1" dirty="0">
                <a:solidFill>
                  <a:srgbClr val="FFFFFF"/>
                </a:solidFill>
                <a:latin typeface="Arial" panose="020B0604020202020204" pitchFamily="34" charset="0"/>
              </a:rPr>
              <a:t>日</a:t>
            </a:r>
            <a:endParaRPr lang="zh-CN" altLang="en-US" sz="2400" dirty="0"/>
          </a:p>
        </p:txBody>
      </p:sp>
      <p:sp>
        <p:nvSpPr>
          <p:cNvPr id="3" name="文本框 2">
            <a:extLst>
              <a:ext uri="{FF2B5EF4-FFF2-40B4-BE49-F238E27FC236}">
                <a16:creationId xmlns:a16="http://schemas.microsoft.com/office/drawing/2014/main" id="{E65D83D4-7696-40E3-B420-8383172DB7BB}"/>
              </a:ext>
            </a:extLst>
          </p:cNvPr>
          <p:cNvSpPr txBox="1"/>
          <p:nvPr/>
        </p:nvSpPr>
        <p:spPr>
          <a:xfrm>
            <a:off x="597159" y="846683"/>
            <a:ext cx="7837714" cy="1077218"/>
          </a:xfrm>
          <a:prstGeom prst="rect">
            <a:avLst/>
          </a:prstGeom>
          <a:noFill/>
        </p:spPr>
        <p:txBody>
          <a:bodyPr wrap="square" rtlCol="0">
            <a:spAutoFit/>
          </a:bodyPr>
          <a:lstStyle/>
          <a:p>
            <a:r>
              <a:rPr lang="en-US" altLang="zh-CN" sz="3200" b="1" dirty="0">
                <a:latin typeface="Times New Roman" panose="02020603050405020304" pitchFamily="18" charset="0"/>
              </a:rPr>
              <a:t>Meta-analysis of gut microbiome studies</a:t>
            </a:r>
          </a:p>
          <a:p>
            <a:endParaRPr lang="zh-CN" altLang="en-US" sz="3200" b="1" dirty="0">
              <a:latin typeface="Times New Roman" panose="02020603050405020304" pitchFamily="18" charset="0"/>
            </a:endParaRPr>
          </a:p>
        </p:txBody>
      </p:sp>
      <p:sp>
        <p:nvSpPr>
          <p:cNvPr id="4" name="文本框 3">
            <a:extLst>
              <a:ext uri="{FF2B5EF4-FFF2-40B4-BE49-F238E27FC236}">
                <a16:creationId xmlns:a16="http://schemas.microsoft.com/office/drawing/2014/main" id="{CDA3D1A8-758E-4408-BDF5-10F7B58B9B60}"/>
              </a:ext>
            </a:extLst>
          </p:cNvPr>
          <p:cNvSpPr txBox="1"/>
          <p:nvPr/>
        </p:nvSpPr>
        <p:spPr>
          <a:xfrm>
            <a:off x="447869" y="1923901"/>
            <a:ext cx="11616301" cy="2585323"/>
          </a:xfrm>
          <a:prstGeom prst="rect">
            <a:avLst/>
          </a:prstGeom>
          <a:noFill/>
        </p:spPr>
        <p:txBody>
          <a:bodyPr wrap="square" rtlCol="0">
            <a:spAutoFit/>
          </a:bodyPr>
          <a:lstStyle/>
          <a:p>
            <a:r>
              <a:rPr lang="zh-CN" altLang="en-US" sz="5400" b="1" dirty="0">
                <a:solidFill>
                  <a:srgbClr val="FFC000"/>
                </a:solidFill>
              </a:rPr>
              <a:t>肠道微生物组学研究确定疾病特异性和共同反应的荟萃分析</a:t>
            </a:r>
          </a:p>
          <a:p>
            <a:endParaRPr lang="zh-CN" altLang="en-US" sz="5400" b="1" dirty="0">
              <a:solidFill>
                <a:srgbClr val="FFC000"/>
              </a:solidFill>
            </a:endParaRPr>
          </a:p>
        </p:txBody>
      </p:sp>
      <p:sp>
        <p:nvSpPr>
          <p:cNvPr id="6" name="灯片编号占位符 5">
            <a:extLst>
              <a:ext uri="{FF2B5EF4-FFF2-40B4-BE49-F238E27FC236}">
                <a16:creationId xmlns:a16="http://schemas.microsoft.com/office/drawing/2014/main" id="{10673249-9F79-491B-8353-786FD2587B37}"/>
              </a:ext>
            </a:extLst>
          </p:cNvPr>
          <p:cNvSpPr>
            <a:spLocks noGrp="1"/>
          </p:cNvSpPr>
          <p:nvPr>
            <p:ph type="sldNum" sz="quarter" idx="12"/>
          </p:nvPr>
        </p:nvSpPr>
        <p:spPr/>
        <p:txBody>
          <a:bodyPr/>
          <a:lstStyle/>
          <a:p>
            <a:fld id="{53C4B9C9-2132-4B7A-9A0A-4FEC6FBD50BE}" type="slidenum">
              <a:rPr lang="zh-CN" altLang="en-US" smtClean="0"/>
              <a:t>1</a:t>
            </a:fld>
            <a:endParaRPr lang="zh-CN" altLang="en-US"/>
          </a:p>
        </p:txBody>
      </p:sp>
    </p:spTree>
    <p:extLst>
      <p:ext uri="{BB962C8B-B14F-4D97-AF65-F5344CB8AC3E}">
        <p14:creationId xmlns:p14="http://schemas.microsoft.com/office/powerpoint/2010/main" val="665071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E606D70-6D77-4591-90E7-0116E8033F26}"/>
              </a:ext>
            </a:extLst>
          </p:cNvPr>
          <p:cNvPicPr>
            <a:picLocks noChangeAspect="1"/>
          </p:cNvPicPr>
          <p:nvPr/>
        </p:nvPicPr>
        <p:blipFill>
          <a:blip r:embed="rId2"/>
          <a:stretch>
            <a:fillRect/>
          </a:stretch>
        </p:blipFill>
        <p:spPr>
          <a:xfrm>
            <a:off x="2654829" y="0"/>
            <a:ext cx="7536217" cy="6876000"/>
          </a:xfrm>
          <a:prstGeom prst="rect">
            <a:avLst/>
          </a:prstGeom>
        </p:spPr>
      </p:pic>
      <p:sp>
        <p:nvSpPr>
          <p:cNvPr id="7" name="灯片编号占位符 6">
            <a:extLst>
              <a:ext uri="{FF2B5EF4-FFF2-40B4-BE49-F238E27FC236}">
                <a16:creationId xmlns:a16="http://schemas.microsoft.com/office/drawing/2014/main" id="{F030D02D-1219-4803-B8E2-1F7484E7429D}"/>
              </a:ext>
            </a:extLst>
          </p:cNvPr>
          <p:cNvSpPr>
            <a:spLocks noGrp="1"/>
          </p:cNvSpPr>
          <p:nvPr>
            <p:ph type="sldNum" sz="quarter" idx="12"/>
          </p:nvPr>
        </p:nvSpPr>
        <p:spPr/>
        <p:txBody>
          <a:bodyPr/>
          <a:lstStyle/>
          <a:p>
            <a:fld id="{53C4B9C9-2132-4B7A-9A0A-4FEC6FBD50BE}" type="slidenum">
              <a:rPr lang="zh-CN" altLang="en-US" smtClean="0"/>
              <a:t>2</a:t>
            </a:fld>
            <a:endParaRPr lang="zh-CN" altLang="en-US"/>
          </a:p>
        </p:txBody>
      </p:sp>
    </p:spTree>
    <p:extLst>
      <p:ext uri="{BB962C8B-B14F-4D97-AF65-F5344CB8AC3E}">
        <p14:creationId xmlns:p14="http://schemas.microsoft.com/office/powerpoint/2010/main" val="3211313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1457999"/>
            <a:ext cx="12192000" cy="5400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1429198"/>
            <a:ext cx="12192000" cy="360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39C8FE8C-3B73-4D2D-8B4F-AA145EF7F99C}"/>
              </a:ext>
            </a:extLst>
          </p:cNvPr>
          <p:cNvSpPr txBox="1"/>
          <p:nvPr/>
        </p:nvSpPr>
        <p:spPr>
          <a:xfrm>
            <a:off x="1175656" y="2108718"/>
            <a:ext cx="8360229" cy="3046988"/>
          </a:xfrm>
          <a:prstGeom prst="rect">
            <a:avLst/>
          </a:prstGeom>
          <a:noFill/>
        </p:spPr>
        <p:txBody>
          <a:bodyPr wrap="square" rtlCol="0">
            <a:spAutoFit/>
          </a:bodyPr>
          <a:lstStyle/>
          <a:p>
            <a:pPr marL="285750" indent="-285750">
              <a:buFont typeface="Wingdings" panose="05000000000000000000" pitchFamily="2" charset="2"/>
              <a:buChar char="Ø"/>
            </a:pPr>
            <a:r>
              <a:rPr lang="zh-CN" altLang="en-US" sz="3200" b="1" dirty="0">
                <a:solidFill>
                  <a:schemeClr val="bg1"/>
                </a:solidFill>
              </a:rPr>
              <a:t>摘要</a:t>
            </a:r>
            <a:endParaRPr lang="en-US" altLang="zh-CN" sz="3200" b="1" dirty="0">
              <a:solidFill>
                <a:schemeClr val="bg1"/>
              </a:solidFill>
            </a:endParaRPr>
          </a:p>
          <a:p>
            <a:pPr marL="285750" indent="-285750">
              <a:buFont typeface="Wingdings" panose="05000000000000000000" pitchFamily="2" charset="2"/>
              <a:buChar char="Ø"/>
            </a:pPr>
            <a:r>
              <a:rPr lang="zh-CN" altLang="en-US" sz="3200" b="1" dirty="0">
                <a:solidFill>
                  <a:schemeClr val="bg1"/>
                </a:solidFill>
              </a:rPr>
              <a:t>结果</a:t>
            </a:r>
            <a:endParaRPr lang="en-US" altLang="zh-CN" sz="3200" b="1" dirty="0">
              <a:solidFill>
                <a:schemeClr val="bg1"/>
              </a:solidFill>
            </a:endParaRPr>
          </a:p>
          <a:p>
            <a:pPr marL="285750" indent="-285750">
              <a:buFont typeface="Wingdings" panose="05000000000000000000" pitchFamily="2" charset="2"/>
              <a:buChar char="Ø"/>
            </a:pPr>
            <a:r>
              <a:rPr lang="zh-CN" altLang="en-US" sz="3200" b="1" dirty="0">
                <a:solidFill>
                  <a:schemeClr val="bg1"/>
                </a:solidFill>
              </a:rPr>
              <a:t>讨论</a:t>
            </a:r>
            <a:endParaRPr lang="en-US" altLang="zh-CN" sz="3200" b="1" dirty="0">
              <a:solidFill>
                <a:schemeClr val="bg1"/>
              </a:solidFill>
            </a:endParaRPr>
          </a:p>
          <a:p>
            <a:pPr marL="285750" indent="-285750">
              <a:buFont typeface="Wingdings" panose="05000000000000000000" pitchFamily="2" charset="2"/>
              <a:buChar char="Ø"/>
            </a:pPr>
            <a:r>
              <a:rPr lang="zh-CN" altLang="en-US" sz="3200" b="1" dirty="0">
                <a:solidFill>
                  <a:schemeClr val="bg1"/>
                </a:solidFill>
              </a:rPr>
              <a:t>方法</a:t>
            </a:r>
            <a:endParaRPr lang="en-US" altLang="zh-CN" sz="3200" b="1" dirty="0">
              <a:solidFill>
                <a:schemeClr val="bg1"/>
              </a:solidFill>
            </a:endParaRPr>
          </a:p>
          <a:p>
            <a:pPr marL="285750" indent="-285750">
              <a:buFont typeface="Wingdings" panose="05000000000000000000" pitchFamily="2" charset="2"/>
              <a:buChar char="Ø"/>
            </a:pPr>
            <a:r>
              <a:rPr lang="zh-CN" altLang="en-US" sz="3200" b="1" dirty="0">
                <a:solidFill>
                  <a:schemeClr val="bg1"/>
                </a:solidFill>
              </a:rPr>
              <a:t>我的工作</a:t>
            </a:r>
            <a:endParaRPr lang="en-US" altLang="zh-CN" sz="3200" b="1" dirty="0">
              <a:solidFill>
                <a:schemeClr val="bg1"/>
              </a:solidFill>
            </a:endParaRPr>
          </a:p>
          <a:p>
            <a:pPr marL="285750" indent="-285750">
              <a:buFont typeface="Wingdings" panose="05000000000000000000" pitchFamily="2" charset="2"/>
              <a:buChar char="Ø"/>
            </a:pPr>
            <a:endParaRPr lang="zh-CN" altLang="en-US" sz="3200" b="1" dirty="0">
              <a:solidFill>
                <a:schemeClr val="bg1"/>
              </a:solidFill>
            </a:endParaRPr>
          </a:p>
        </p:txBody>
      </p:sp>
      <p:sp>
        <p:nvSpPr>
          <p:cNvPr id="3" name="文本框 2">
            <a:extLst>
              <a:ext uri="{FF2B5EF4-FFF2-40B4-BE49-F238E27FC236}">
                <a16:creationId xmlns:a16="http://schemas.microsoft.com/office/drawing/2014/main" id="{D7EC7363-832A-4291-BA5F-A0BF9A7488F1}"/>
              </a:ext>
            </a:extLst>
          </p:cNvPr>
          <p:cNvSpPr txBox="1"/>
          <p:nvPr/>
        </p:nvSpPr>
        <p:spPr>
          <a:xfrm>
            <a:off x="821094" y="261257"/>
            <a:ext cx="2407298" cy="830997"/>
          </a:xfrm>
          <a:prstGeom prst="rect">
            <a:avLst/>
          </a:prstGeom>
          <a:noFill/>
        </p:spPr>
        <p:txBody>
          <a:bodyPr wrap="square" rtlCol="0">
            <a:spAutoFit/>
          </a:bodyPr>
          <a:lstStyle/>
          <a:p>
            <a:r>
              <a:rPr lang="zh-CN" altLang="en-US" sz="4800" dirty="0">
                <a:solidFill>
                  <a:srgbClr val="FFC000"/>
                </a:solidFill>
              </a:rPr>
              <a:t>目录</a:t>
            </a:r>
          </a:p>
        </p:txBody>
      </p:sp>
      <p:sp>
        <p:nvSpPr>
          <p:cNvPr id="4" name="灯片编号占位符 3">
            <a:extLst>
              <a:ext uri="{FF2B5EF4-FFF2-40B4-BE49-F238E27FC236}">
                <a16:creationId xmlns:a16="http://schemas.microsoft.com/office/drawing/2014/main" id="{17257C55-936D-400F-91C4-9B14B3BD7DC0}"/>
              </a:ext>
            </a:extLst>
          </p:cNvPr>
          <p:cNvSpPr>
            <a:spLocks noGrp="1"/>
          </p:cNvSpPr>
          <p:nvPr>
            <p:ph type="sldNum" sz="quarter" idx="12"/>
          </p:nvPr>
        </p:nvSpPr>
        <p:spPr/>
        <p:txBody>
          <a:bodyPr/>
          <a:lstStyle/>
          <a:p>
            <a:fld id="{53C4B9C9-2132-4B7A-9A0A-4FEC6FBD50BE}" type="slidenum">
              <a:rPr lang="zh-CN" altLang="en-US" smtClean="0"/>
              <a:t>3</a:t>
            </a:fld>
            <a:endParaRPr lang="zh-CN" altLang="en-US"/>
          </a:p>
        </p:txBody>
      </p:sp>
    </p:spTree>
    <p:extLst>
      <p:ext uri="{BB962C8B-B14F-4D97-AF65-F5344CB8AC3E}">
        <p14:creationId xmlns:p14="http://schemas.microsoft.com/office/powerpoint/2010/main" val="3859835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1465198"/>
            <a:ext cx="12192000" cy="5400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1429198"/>
            <a:ext cx="12192000" cy="360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39D9D8F4-ABE9-4E25-B994-2170EA54729B}"/>
              </a:ext>
            </a:extLst>
          </p:cNvPr>
          <p:cNvSpPr txBox="1"/>
          <p:nvPr/>
        </p:nvSpPr>
        <p:spPr>
          <a:xfrm>
            <a:off x="1194319" y="215413"/>
            <a:ext cx="3041780" cy="923330"/>
          </a:xfrm>
          <a:prstGeom prst="rect">
            <a:avLst/>
          </a:prstGeom>
          <a:noFill/>
        </p:spPr>
        <p:txBody>
          <a:bodyPr wrap="square" rtlCol="0">
            <a:spAutoFit/>
          </a:bodyPr>
          <a:lstStyle/>
          <a:p>
            <a:r>
              <a:rPr lang="zh-CN" altLang="en-US" sz="5400" dirty="0">
                <a:solidFill>
                  <a:srgbClr val="FFC000"/>
                </a:solidFill>
              </a:rPr>
              <a:t>摘要</a:t>
            </a:r>
          </a:p>
        </p:txBody>
      </p:sp>
      <p:sp>
        <p:nvSpPr>
          <p:cNvPr id="3" name="文本框 2">
            <a:extLst>
              <a:ext uri="{FF2B5EF4-FFF2-40B4-BE49-F238E27FC236}">
                <a16:creationId xmlns:a16="http://schemas.microsoft.com/office/drawing/2014/main" id="{EEB8ABC8-4846-4A52-A403-6BCE11CB479C}"/>
              </a:ext>
            </a:extLst>
          </p:cNvPr>
          <p:cNvSpPr txBox="1"/>
          <p:nvPr/>
        </p:nvSpPr>
        <p:spPr>
          <a:xfrm>
            <a:off x="702906" y="1903041"/>
            <a:ext cx="10786187" cy="4524315"/>
          </a:xfrm>
          <a:prstGeom prst="rect">
            <a:avLst/>
          </a:prstGeom>
          <a:noFill/>
        </p:spPr>
        <p:txBody>
          <a:bodyPr wrap="square" rtlCol="0">
            <a:spAutoFit/>
          </a:bodyPr>
          <a:lstStyle/>
          <a:p>
            <a:pPr marL="457200" indent="-457200">
              <a:buClr>
                <a:srgbClr val="FFC000"/>
              </a:buClr>
              <a:buFont typeface="Wingdings" panose="05000000000000000000" pitchFamily="2" charset="2"/>
              <a:buChar char="n"/>
            </a:pPr>
            <a:r>
              <a:rPr lang="zh-CN" altLang="en-US" sz="3200" dirty="0">
                <a:solidFill>
                  <a:schemeClr val="bg1"/>
                </a:solidFill>
              </a:rPr>
              <a:t>解决如何描述人类微生物组与疾病之间存在关联这个基本问题。</a:t>
            </a:r>
            <a:endParaRPr lang="en-US" altLang="zh-CN" sz="3200" dirty="0">
              <a:solidFill>
                <a:schemeClr val="bg1"/>
              </a:solidFill>
            </a:endParaRPr>
          </a:p>
          <a:p>
            <a:pPr marL="457200" indent="-457200">
              <a:buClr>
                <a:srgbClr val="FFC000"/>
              </a:buClr>
              <a:buFont typeface="Wingdings" panose="05000000000000000000" pitchFamily="2" charset="2"/>
              <a:buChar char="n"/>
            </a:pPr>
            <a:r>
              <a:rPr lang="zh-CN" altLang="en-US" sz="3200" dirty="0">
                <a:solidFill>
                  <a:schemeClr val="bg1"/>
                </a:solidFill>
              </a:rPr>
              <a:t>由于缺乏标准的处理和分析方法，发表的数据比较复杂，个别研究的结果可能不一致。</a:t>
            </a:r>
            <a:endParaRPr lang="en-US" altLang="zh-CN" sz="3200" dirty="0">
              <a:solidFill>
                <a:schemeClr val="bg1"/>
              </a:solidFill>
            </a:endParaRPr>
          </a:p>
          <a:p>
            <a:pPr marL="457200" indent="-457200">
              <a:buClr>
                <a:srgbClr val="FFC000"/>
              </a:buClr>
              <a:buFont typeface="Wingdings" panose="05000000000000000000" pitchFamily="2" charset="2"/>
              <a:buChar char="n"/>
            </a:pPr>
            <a:r>
              <a:rPr lang="zh-CN" altLang="en-US" sz="3200" dirty="0">
                <a:solidFill>
                  <a:schemeClr val="bg1"/>
                </a:solidFill>
              </a:rPr>
              <a:t>构建</a:t>
            </a:r>
            <a:r>
              <a:rPr lang="en-US" altLang="zh-CN" sz="3200" dirty="0" err="1">
                <a:solidFill>
                  <a:schemeClr val="bg1"/>
                </a:solidFill>
              </a:rPr>
              <a:t>MicrobiomeHD</a:t>
            </a:r>
            <a:r>
              <a:rPr lang="zh-CN" altLang="en-US" sz="3200" dirty="0">
                <a:solidFill>
                  <a:schemeClr val="bg1"/>
                </a:solidFill>
              </a:rPr>
              <a:t>数据库</a:t>
            </a:r>
            <a:r>
              <a:rPr lang="en-US" altLang="zh-CN" sz="3200" dirty="0">
                <a:solidFill>
                  <a:schemeClr val="bg1"/>
                </a:solidFill>
              </a:rPr>
              <a:t>:</a:t>
            </a:r>
            <a:r>
              <a:rPr lang="zh-CN" altLang="en-US" sz="3200" dirty="0">
                <a:solidFill>
                  <a:schemeClr val="bg1"/>
                </a:solidFill>
              </a:rPr>
              <a:t>包括</a:t>
            </a:r>
            <a:r>
              <a:rPr lang="en-US" altLang="zh-CN" sz="3200" dirty="0">
                <a:solidFill>
                  <a:schemeClr val="bg1"/>
                </a:solidFill>
              </a:rPr>
              <a:t>28</a:t>
            </a:r>
            <a:r>
              <a:rPr lang="zh-CN" altLang="en-US" sz="3200" dirty="0">
                <a:solidFill>
                  <a:schemeClr val="bg1"/>
                </a:solidFill>
              </a:rPr>
              <a:t>个公布的病例对照肠道微生物组研究，涵盖十种疾病。使用标准化方法对这些研究进行交叉疾病荟萃分析。发现表征疾病相关微生物组变化的一致模式。</a:t>
            </a:r>
            <a:endParaRPr lang="en-US" altLang="zh-CN" sz="3200" dirty="0">
              <a:solidFill>
                <a:schemeClr val="bg1"/>
              </a:solidFill>
            </a:endParaRPr>
          </a:p>
          <a:p>
            <a:pPr marL="457200" indent="-457200">
              <a:buClr>
                <a:srgbClr val="FFC000"/>
              </a:buClr>
              <a:buFont typeface="Wingdings" panose="05000000000000000000" pitchFamily="2" charset="2"/>
              <a:buChar char="n"/>
            </a:pPr>
            <a:r>
              <a:rPr lang="zh-CN" altLang="en-US" sz="3200" dirty="0">
                <a:solidFill>
                  <a:schemeClr val="bg1"/>
                </a:solidFill>
              </a:rPr>
              <a:t>可以为基于微生物群的诊断和治疗的发展提供信息</a:t>
            </a:r>
          </a:p>
        </p:txBody>
      </p:sp>
      <p:sp>
        <p:nvSpPr>
          <p:cNvPr id="4" name="灯片编号占位符 3">
            <a:extLst>
              <a:ext uri="{FF2B5EF4-FFF2-40B4-BE49-F238E27FC236}">
                <a16:creationId xmlns:a16="http://schemas.microsoft.com/office/drawing/2014/main" id="{27A0434E-1756-48A1-B45A-66A67E2E9E7D}"/>
              </a:ext>
            </a:extLst>
          </p:cNvPr>
          <p:cNvSpPr>
            <a:spLocks noGrp="1"/>
          </p:cNvSpPr>
          <p:nvPr>
            <p:ph type="sldNum" sz="quarter" idx="12"/>
          </p:nvPr>
        </p:nvSpPr>
        <p:spPr/>
        <p:txBody>
          <a:bodyPr/>
          <a:lstStyle/>
          <a:p>
            <a:fld id="{53C4B9C9-2132-4B7A-9A0A-4FEC6FBD50BE}" type="slidenum">
              <a:rPr lang="zh-CN" altLang="en-US" smtClean="0"/>
              <a:t>4</a:t>
            </a:fld>
            <a:endParaRPr lang="zh-CN" altLang="en-US"/>
          </a:p>
        </p:txBody>
      </p:sp>
    </p:spTree>
    <p:extLst>
      <p:ext uri="{BB962C8B-B14F-4D97-AF65-F5344CB8AC3E}">
        <p14:creationId xmlns:p14="http://schemas.microsoft.com/office/powerpoint/2010/main" val="2551300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1457999"/>
            <a:ext cx="12192000" cy="5400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1429198"/>
            <a:ext cx="12192000" cy="360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AEA11ADC-54FC-4756-AC79-4EC0690DFAEC}"/>
              </a:ext>
            </a:extLst>
          </p:cNvPr>
          <p:cNvSpPr txBox="1"/>
          <p:nvPr/>
        </p:nvSpPr>
        <p:spPr>
          <a:xfrm>
            <a:off x="970384" y="289437"/>
            <a:ext cx="3265714" cy="923330"/>
          </a:xfrm>
          <a:prstGeom prst="rect">
            <a:avLst/>
          </a:prstGeom>
          <a:noFill/>
        </p:spPr>
        <p:txBody>
          <a:bodyPr wrap="square" rtlCol="0">
            <a:spAutoFit/>
          </a:bodyPr>
          <a:lstStyle/>
          <a:p>
            <a:r>
              <a:rPr lang="en-US" altLang="zh-CN" sz="5400" dirty="0">
                <a:solidFill>
                  <a:srgbClr val="FFC000"/>
                </a:solidFill>
              </a:rPr>
              <a:t>Results</a:t>
            </a:r>
            <a:endParaRPr lang="zh-CN" altLang="en-US" sz="5400" dirty="0">
              <a:solidFill>
                <a:srgbClr val="FFC000"/>
              </a:solidFill>
            </a:endParaRPr>
          </a:p>
        </p:txBody>
      </p:sp>
      <p:sp>
        <p:nvSpPr>
          <p:cNvPr id="3" name="文本框 2">
            <a:extLst>
              <a:ext uri="{FF2B5EF4-FFF2-40B4-BE49-F238E27FC236}">
                <a16:creationId xmlns:a16="http://schemas.microsoft.com/office/drawing/2014/main" id="{E9ABCE67-7BC1-4845-AD20-6434E5E1B191}"/>
              </a:ext>
            </a:extLst>
          </p:cNvPr>
          <p:cNvSpPr txBox="1"/>
          <p:nvPr/>
        </p:nvSpPr>
        <p:spPr>
          <a:xfrm>
            <a:off x="615820" y="2212776"/>
            <a:ext cx="10114384" cy="1077218"/>
          </a:xfrm>
          <a:prstGeom prst="rect">
            <a:avLst/>
          </a:prstGeom>
          <a:noFill/>
        </p:spPr>
        <p:txBody>
          <a:bodyPr wrap="square" rtlCol="0">
            <a:spAutoFit/>
          </a:bodyPr>
          <a:lstStyle/>
          <a:p>
            <a:pPr marL="285750" indent="-285750">
              <a:buClr>
                <a:srgbClr val="FFC000"/>
              </a:buClr>
              <a:buFont typeface="Wingdings" panose="05000000000000000000" pitchFamily="2" charset="2"/>
              <a:buChar char="n"/>
            </a:pPr>
            <a:r>
              <a:rPr lang="zh-CN" altLang="en-US" sz="3200" b="1" dirty="0">
                <a:solidFill>
                  <a:schemeClr val="bg1"/>
                </a:solidFill>
              </a:rPr>
              <a:t>微生物组在不同的疾病中发生了改变</a:t>
            </a:r>
          </a:p>
          <a:p>
            <a:pPr marL="285750" indent="-285750">
              <a:buClr>
                <a:srgbClr val="FFC000"/>
              </a:buClr>
              <a:buFont typeface="Wingdings" panose="05000000000000000000" pitchFamily="2" charset="2"/>
              <a:buChar char="n"/>
            </a:pPr>
            <a:r>
              <a:rPr lang="zh-CN" altLang="en-US" sz="3200" b="1" dirty="0">
                <a:solidFill>
                  <a:schemeClr val="bg1"/>
                </a:solidFill>
              </a:rPr>
              <a:t>有益微生物的丧失或病原体的富集。</a:t>
            </a:r>
          </a:p>
        </p:txBody>
      </p:sp>
      <p:sp>
        <p:nvSpPr>
          <p:cNvPr id="4" name="灯片编号占位符 3">
            <a:extLst>
              <a:ext uri="{FF2B5EF4-FFF2-40B4-BE49-F238E27FC236}">
                <a16:creationId xmlns:a16="http://schemas.microsoft.com/office/drawing/2014/main" id="{DCF0833A-82AF-4CC7-B95C-4D76B2FC3E1B}"/>
              </a:ext>
            </a:extLst>
          </p:cNvPr>
          <p:cNvSpPr>
            <a:spLocks noGrp="1"/>
          </p:cNvSpPr>
          <p:nvPr>
            <p:ph type="sldNum" sz="quarter" idx="12"/>
          </p:nvPr>
        </p:nvSpPr>
        <p:spPr/>
        <p:txBody>
          <a:bodyPr/>
          <a:lstStyle/>
          <a:p>
            <a:fld id="{53C4B9C9-2132-4B7A-9A0A-4FEC6FBD50BE}" type="slidenum">
              <a:rPr lang="zh-CN" altLang="en-US" smtClean="0"/>
              <a:t>5</a:t>
            </a:fld>
            <a:endParaRPr lang="zh-CN" altLang="en-US"/>
          </a:p>
        </p:txBody>
      </p:sp>
    </p:spTree>
    <p:extLst>
      <p:ext uri="{BB962C8B-B14F-4D97-AF65-F5344CB8AC3E}">
        <p14:creationId xmlns:p14="http://schemas.microsoft.com/office/powerpoint/2010/main" val="28118569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20EFF37-0F43-4887-85CD-94A188369D2F}"/>
              </a:ext>
            </a:extLst>
          </p:cNvPr>
          <p:cNvPicPr>
            <a:picLocks noChangeAspect="1"/>
          </p:cNvPicPr>
          <p:nvPr/>
        </p:nvPicPr>
        <p:blipFill>
          <a:blip r:embed="rId2"/>
          <a:stretch>
            <a:fillRect/>
          </a:stretch>
        </p:blipFill>
        <p:spPr>
          <a:xfrm>
            <a:off x="2057400" y="933450"/>
            <a:ext cx="8077200" cy="5924550"/>
          </a:xfrm>
          <a:prstGeom prst="rect">
            <a:avLst/>
          </a:prstGeom>
        </p:spPr>
      </p:pic>
      <p:sp>
        <p:nvSpPr>
          <p:cNvPr id="6" name="文本框 5">
            <a:extLst>
              <a:ext uri="{FF2B5EF4-FFF2-40B4-BE49-F238E27FC236}">
                <a16:creationId xmlns:a16="http://schemas.microsoft.com/office/drawing/2014/main" id="{F74F6BAB-1543-4023-AD95-A6ADB0B5EBB5}"/>
              </a:ext>
            </a:extLst>
          </p:cNvPr>
          <p:cNvSpPr txBox="1"/>
          <p:nvPr/>
        </p:nvSpPr>
        <p:spPr>
          <a:xfrm>
            <a:off x="410546" y="130629"/>
            <a:ext cx="8976049" cy="707886"/>
          </a:xfrm>
          <a:prstGeom prst="rect">
            <a:avLst/>
          </a:prstGeom>
          <a:noFill/>
        </p:spPr>
        <p:txBody>
          <a:bodyPr wrap="square" rtlCol="0">
            <a:spAutoFit/>
          </a:bodyPr>
          <a:lstStyle/>
          <a:p>
            <a:r>
              <a:rPr lang="zh-CN" altLang="en-US" sz="4000" b="1" dirty="0">
                <a:solidFill>
                  <a:srgbClr val="FFC000"/>
                </a:solidFill>
              </a:rPr>
              <a:t>通过标准化程序收集和处理的数据集</a:t>
            </a:r>
            <a:endParaRPr lang="zh-CN" altLang="en-US" sz="4000" dirty="0">
              <a:solidFill>
                <a:srgbClr val="FFC000"/>
              </a:solidFill>
            </a:endParaRPr>
          </a:p>
        </p:txBody>
      </p:sp>
      <p:sp>
        <p:nvSpPr>
          <p:cNvPr id="7" name="灯片编号占位符 6">
            <a:extLst>
              <a:ext uri="{FF2B5EF4-FFF2-40B4-BE49-F238E27FC236}">
                <a16:creationId xmlns:a16="http://schemas.microsoft.com/office/drawing/2014/main" id="{8F3E1A9E-F501-4F33-A8BC-87D22FE2B995}"/>
              </a:ext>
            </a:extLst>
          </p:cNvPr>
          <p:cNvSpPr>
            <a:spLocks noGrp="1"/>
          </p:cNvSpPr>
          <p:nvPr>
            <p:ph type="sldNum" sz="quarter" idx="12"/>
          </p:nvPr>
        </p:nvSpPr>
        <p:spPr/>
        <p:txBody>
          <a:bodyPr/>
          <a:lstStyle/>
          <a:p>
            <a:fld id="{53C4B9C9-2132-4B7A-9A0A-4FEC6FBD50BE}" type="slidenum">
              <a:rPr lang="zh-CN" altLang="en-US" smtClean="0"/>
              <a:t>6</a:t>
            </a:fld>
            <a:endParaRPr lang="zh-CN" altLang="en-US"/>
          </a:p>
        </p:txBody>
      </p:sp>
    </p:spTree>
    <p:extLst>
      <p:ext uri="{BB962C8B-B14F-4D97-AF65-F5344CB8AC3E}">
        <p14:creationId xmlns:p14="http://schemas.microsoft.com/office/powerpoint/2010/main" val="3335929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g. 1">
            <a:extLst>
              <a:ext uri="{FF2B5EF4-FFF2-40B4-BE49-F238E27FC236}">
                <a16:creationId xmlns:a16="http://schemas.microsoft.com/office/drawing/2014/main" id="{CE459F3B-4A3A-43C3-A0ED-F39D42F8C8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6475" y="333375"/>
            <a:ext cx="6105525" cy="6524625"/>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78D2F692-0A63-4AC4-8D43-2C8410965EF5}"/>
              </a:ext>
            </a:extLst>
          </p:cNvPr>
          <p:cNvSpPr txBox="1"/>
          <p:nvPr/>
        </p:nvSpPr>
        <p:spPr>
          <a:xfrm>
            <a:off x="0" y="0"/>
            <a:ext cx="6680719" cy="523220"/>
          </a:xfrm>
          <a:prstGeom prst="rect">
            <a:avLst/>
          </a:prstGeom>
          <a:noFill/>
        </p:spPr>
        <p:txBody>
          <a:bodyPr wrap="square" rtlCol="0">
            <a:spAutoFit/>
          </a:bodyPr>
          <a:lstStyle/>
          <a:p>
            <a:r>
              <a:rPr lang="zh-CN" altLang="en-US" sz="2800" dirty="0">
                <a:solidFill>
                  <a:srgbClr val="FFC000"/>
                </a:solidFill>
              </a:rPr>
              <a:t>微生物组在不同的疾病中发生了改变</a:t>
            </a:r>
          </a:p>
        </p:txBody>
      </p:sp>
      <p:sp>
        <p:nvSpPr>
          <p:cNvPr id="6" name="文本框 5">
            <a:extLst>
              <a:ext uri="{FF2B5EF4-FFF2-40B4-BE49-F238E27FC236}">
                <a16:creationId xmlns:a16="http://schemas.microsoft.com/office/drawing/2014/main" id="{0B4F9914-514B-4DBC-8E85-8ACA61D1DBDD}"/>
              </a:ext>
            </a:extLst>
          </p:cNvPr>
          <p:cNvSpPr txBox="1"/>
          <p:nvPr/>
        </p:nvSpPr>
        <p:spPr>
          <a:xfrm>
            <a:off x="346691" y="1231641"/>
            <a:ext cx="5393093" cy="1200329"/>
          </a:xfrm>
          <a:prstGeom prst="rect">
            <a:avLst/>
          </a:prstGeom>
          <a:noFill/>
        </p:spPr>
        <p:txBody>
          <a:bodyPr wrap="square" rtlCol="0">
            <a:spAutoFit/>
          </a:bodyPr>
          <a:lstStyle/>
          <a:p>
            <a:pPr marL="285750" indent="-285750">
              <a:buClr>
                <a:srgbClr val="FFC000"/>
              </a:buClr>
              <a:buFont typeface="Wingdings" panose="05000000000000000000" pitchFamily="2" charset="2"/>
              <a:buChar char="n"/>
            </a:pPr>
            <a:r>
              <a:rPr lang="en-US" altLang="zh-CN" sz="2400" dirty="0"/>
              <a:t>AUC</a:t>
            </a:r>
            <a:r>
              <a:rPr lang="zh-CN" altLang="en-US" sz="2400" dirty="0"/>
              <a:t>值越大，当前的分类算法越有可能将正样本排在负样本前面，即能够更好的分类。</a:t>
            </a:r>
          </a:p>
        </p:txBody>
      </p:sp>
      <p:sp>
        <p:nvSpPr>
          <p:cNvPr id="8" name="灯片编号占位符 7">
            <a:extLst>
              <a:ext uri="{FF2B5EF4-FFF2-40B4-BE49-F238E27FC236}">
                <a16:creationId xmlns:a16="http://schemas.microsoft.com/office/drawing/2014/main" id="{24C846D5-43C9-4562-B881-C7F4934F9644}"/>
              </a:ext>
            </a:extLst>
          </p:cNvPr>
          <p:cNvSpPr>
            <a:spLocks noGrp="1"/>
          </p:cNvSpPr>
          <p:nvPr>
            <p:ph type="sldNum" sz="quarter" idx="12"/>
          </p:nvPr>
        </p:nvSpPr>
        <p:spPr/>
        <p:txBody>
          <a:bodyPr/>
          <a:lstStyle/>
          <a:p>
            <a:fld id="{53C4B9C9-2132-4B7A-9A0A-4FEC6FBD50BE}" type="slidenum">
              <a:rPr lang="zh-CN" altLang="en-US" smtClean="0"/>
              <a:t>7</a:t>
            </a:fld>
            <a:endParaRPr lang="zh-CN" altLang="en-US"/>
          </a:p>
        </p:txBody>
      </p:sp>
    </p:spTree>
    <p:extLst>
      <p:ext uri="{BB962C8B-B14F-4D97-AF65-F5344CB8AC3E}">
        <p14:creationId xmlns:p14="http://schemas.microsoft.com/office/powerpoint/2010/main" val="2016851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ig. 2">
            <a:extLst>
              <a:ext uri="{FF2B5EF4-FFF2-40B4-BE49-F238E27FC236}">
                <a16:creationId xmlns:a16="http://schemas.microsoft.com/office/drawing/2014/main" id="{2E5C5C53-E368-465B-8885-F50475505E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4225" y="333375"/>
            <a:ext cx="5057775" cy="652462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6C0985F8-CE94-4EC8-B051-0F9B361E1283}"/>
              </a:ext>
            </a:extLst>
          </p:cNvPr>
          <p:cNvSpPr/>
          <p:nvPr/>
        </p:nvSpPr>
        <p:spPr>
          <a:xfrm>
            <a:off x="466531" y="71765"/>
            <a:ext cx="6086475" cy="523220"/>
          </a:xfrm>
          <a:prstGeom prst="rect">
            <a:avLst/>
          </a:prstGeom>
        </p:spPr>
        <p:txBody>
          <a:bodyPr wrap="square">
            <a:spAutoFit/>
          </a:bodyPr>
          <a:lstStyle/>
          <a:p>
            <a:r>
              <a:rPr lang="zh-CN" altLang="en-US" sz="2800" dirty="0">
                <a:solidFill>
                  <a:srgbClr val="FFC000"/>
                </a:solidFill>
              </a:rPr>
              <a:t>有益微生物的丧失或病原体的富集</a:t>
            </a:r>
          </a:p>
        </p:txBody>
      </p:sp>
      <p:sp>
        <p:nvSpPr>
          <p:cNvPr id="5" name="文本框 4">
            <a:extLst>
              <a:ext uri="{FF2B5EF4-FFF2-40B4-BE49-F238E27FC236}">
                <a16:creationId xmlns:a16="http://schemas.microsoft.com/office/drawing/2014/main" id="{F3A5BF0B-A273-4734-BDD2-B0E00D387955}"/>
              </a:ext>
            </a:extLst>
          </p:cNvPr>
          <p:cNvSpPr txBox="1"/>
          <p:nvPr/>
        </p:nvSpPr>
        <p:spPr>
          <a:xfrm>
            <a:off x="253288" y="989045"/>
            <a:ext cx="6590328" cy="4154984"/>
          </a:xfrm>
          <a:prstGeom prst="rect">
            <a:avLst/>
          </a:prstGeom>
          <a:noFill/>
        </p:spPr>
        <p:txBody>
          <a:bodyPr wrap="square" rtlCol="0">
            <a:spAutoFit/>
          </a:bodyPr>
          <a:lstStyle/>
          <a:p>
            <a:r>
              <a:rPr lang="zh-CN" altLang="en-US" sz="2400" dirty="0"/>
              <a:t>行包括在每种疾病中至少一个数据集中显着的所有属，列是数据集。</a:t>
            </a:r>
            <a:r>
              <a:rPr lang="en-US" altLang="zh-CN" sz="2400" i="1" dirty="0"/>
              <a:t>q</a:t>
            </a:r>
            <a:r>
              <a:rPr lang="zh-CN" altLang="en-US" sz="2400" dirty="0"/>
              <a:t>值由效应方向着色，其中红色表示疾病患者的平均丰度较高，蓝色表示对照组中较高的平均丰度。不透明度范围从</a:t>
            </a:r>
            <a:r>
              <a:rPr lang="en-US" altLang="zh-CN" sz="2400" i="1" dirty="0"/>
              <a:t>q</a:t>
            </a:r>
            <a:r>
              <a:rPr lang="zh-CN" altLang="en-US" sz="2400" dirty="0"/>
              <a:t>  </a:t>
            </a:r>
            <a:r>
              <a:rPr lang="en-US" altLang="zh-CN" sz="2400" dirty="0"/>
              <a:t>= 0.05-1</a:t>
            </a:r>
            <a:r>
              <a:rPr lang="zh-CN" altLang="en-US" sz="2400" dirty="0"/>
              <a:t>，其中</a:t>
            </a:r>
            <a:r>
              <a:rPr lang="en-US" altLang="zh-CN" sz="2400" i="1" dirty="0"/>
              <a:t>q</a:t>
            </a:r>
            <a:r>
              <a:rPr lang="zh-CN" altLang="en-US" sz="2400" dirty="0"/>
              <a:t>值小于</a:t>
            </a:r>
            <a:r>
              <a:rPr lang="en-US" altLang="zh-CN" sz="2400" dirty="0"/>
              <a:t>0.05</a:t>
            </a:r>
            <a:r>
              <a:rPr lang="zh-CN" altLang="en-US" sz="2400" dirty="0"/>
              <a:t>是最不透明的并且</a:t>
            </a:r>
            <a:r>
              <a:rPr lang="en-US" altLang="zh-CN" sz="2400" i="1" dirty="0"/>
              <a:t>q</a:t>
            </a:r>
            <a:r>
              <a:rPr lang="zh-CN" altLang="en-US" sz="2400" dirty="0"/>
              <a:t>接近</a:t>
            </a:r>
            <a:r>
              <a:rPr lang="en-US" altLang="zh-CN" sz="2400" dirty="0"/>
              <a:t>1</a:t>
            </a:r>
            <a:r>
              <a:rPr lang="zh-CN" altLang="en-US" sz="2400" dirty="0"/>
              <a:t>的值是灰色的。白色表示该属不存在于该数据集中。在每张热图中，行从大多数疾病相关（顶部）到大多数健康相关（底部）排序</a:t>
            </a:r>
            <a:endParaRPr lang="en-US" altLang="zh-CN" sz="2400" dirty="0"/>
          </a:p>
          <a:p>
            <a:endParaRPr lang="en-US" altLang="zh-CN" sz="2400" dirty="0"/>
          </a:p>
          <a:p>
            <a:r>
              <a:rPr lang="en-US" altLang="zh-CN" sz="2400" dirty="0"/>
              <a:t>Heat maps showing log10(q values) for each disease </a:t>
            </a:r>
            <a:endParaRPr lang="zh-CN" altLang="en-US" sz="2400" dirty="0"/>
          </a:p>
        </p:txBody>
      </p:sp>
      <p:sp>
        <p:nvSpPr>
          <p:cNvPr id="7" name="灯片编号占位符 6">
            <a:extLst>
              <a:ext uri="{FF2B5EF4-FFF2-40B4-BE49-F238E27FC236}">
                <a16:creationId xmlns:a16="http://schemas.microsoft.com/office/drawing/2014/main" id="{2086B518-A75D-4AB2-883D-26BFBEA12E74}"/>
              </a:ext>
            </a:extLst>
          </p:cNvPr>
          <p:cNvSpPr>
            <a:spLocks noGrp="1"/>
          </p:cNvSpPr>
          <p:nvPr>
            <p:ph type="sldNum" sz="quarter" idx="12"/>
          </p:nvPr>
        </p:nvSpPr>
        <p:spPr/>
        <p:txBody>
          <a:bodyPr/>
          <a:lstStyle/>
          <a:p>
            <a:fld id="{53C4B9C9-2132-4B7A-9A0A-4FEC6FBD50BE}" type="slidenum">
              <a:rPr lang="zh-CN" altLang="en-US" smtClean="0"/>
              <a:t>8</a:t>
            </a:fld>
            <a:endParaRPr lang="zh-CN" altLang="en-US"/>
          </a:p>
        </p:txBody>
      </p:sp>
    </p:spTree>
    <p:extLst>
      <p:ext uri="{BB962C8B-B14F-4D97-AF65-F5344CB8AC3E}">
        <p14:creationId xmlns:p14="http://schemas.microsoft.com/office/powerpoint/2010/main" val="3177673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FFFB6B5-CDF7-4361-8ADA-BE9B1B584BAA}"/>
              </a:ext>
            </a:extLst>
          </p:cNvPr>
          <p:cNvPicPr>
            <a:picLocks noChangeAspect="1"/>
          </p:cNvPicPr>
          <p:nvPr/>
        </p:nvPicPr>
        <p:blipFill>
          <a:blip r:embed="rId3"/>
          <a:stretch>
            <a:fillRect/>
          </a:stretch>
        </p:blipFill>
        <p:spPr>
          <a:xfrm>
            <a:off x="2228850" y="190500"/>
            <a:ext cx="9963150" cy="6667500"/>
          </a:xfrm>
          <a:prstGeom prst="rect">
            <a:avLst/>
          </a:prstGeom>
        </p:spPr>
      </p:pic>
      <p:sp>
        <p:nvSpPr>
          <p:cNvPr id="6" name="文本框 5">
            <a:extLst>
              <a:ext uri="{FF2B5EF4-FFF2-40B4-BE49-F238E27FC236}">
                <a16:creationId xmlns:a16="http://schemas.microsoft.com/office/drawing/2014/main" id="{F108DEF5-7307-4C4E-81B1-7CFC7E44C7A6}"/>
              </a:ext>
            </a:extLst>
          </p:cNvPr>
          <p:cNvSpPr txBox="1"/>
          <p:nvPr/>
        </p:nvSpPr>
        <p:spPr>
          <a:xfrm>
            <a:off x="0" y="1969978"/>
            <a:ext cx="2228850" cy="3108543"/>
          </a:xfrm>
          <a:prstGeom prst="rect">
            <a:avLst/>
          </a:prstGeom>
          <a:noFill/>
        </p:spPr>
        <p:txBody>
          <a:bodyPr wrap="square" rtlCol="0">
            <a:spAutoFit/>
          </a:bodyPr>
          <a:lstStyle/>
          <a:p>
            <a:r>
              <a:rPr lang="zh-CN" altLang="en-US" sz="2800" dirty="0"/>
              <a:t>大多数与疾病相关的微生物组织关联与对疾病的非特异性微生物反应重叠</a:t>
            </a:r>
          </a:p>
        </p:txBody>
      </p:sp>
      <p:sp>
        <p:nvSpPr>
          <p:cNvPr id="7" name="灯片编号占位符 6">
            <a:extLst>
              <a:ext uri="{FF2B5EF4-FFF2-40B4-BE49-F238E27FC236}">
                <a16:creationId xmlns:a16="http://schemas.microsoft.com/office/drawing/2014/main" id="{7E40C028-81EA-416E-B4B5-C659098CA1E2}"/>
              </a:ext>
            </a:extLst>
          </p:cNvPr>
          <p:cNvSpPr>
            <a:spLocks noGrp="1"/>
          </p:cNvSpPr>
          <p:nvPr>
            <p:ph type="sldNum" sz="quarter" idx="12"/>
          </p:nvPr>
        </p:nvSpPr>
        <p:spPr/>
        <p:txBody>
          <a:bodyPr/>
          <a:lstStyle/>
          <a:p>
            <a:fld id="{53C4B9C9-2132-4B7A-9A0A-4FEC6FBD50BE}" type="slidenum">
              <a:rPr lang="zh-CN" altLang="en-US" smtClean="0"/>
              <a:t>9</a:t>
            </a:fld>
            <a:endParaRPr lang="zh-CN" altLang="en-US"/>
          </a:p>
        </p:txBody>
      </p:sp>
    </p:spTree>
    <p:extLst>
      <p:ext uri="{BB962C8B-B14F-4D97-AF65-F5344CB8AC3E}">
        <p14:creationId xmlns:p14="http://schemas.microsoft.com/office/powerpoint/2010/main" val="2784015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1457999"/>
            <a:ext cx="12192000" cy="5400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1429198"/>
            <a:ext cx="12192000" cy="360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AEA11ADC-54FC-4756-AC79-4EC0690DFAEC}"/>
              </a:ext>
            </a:extLst>
          </p:cNvPr>
          <p:cNvSpPr txBox="1"/>
          <p:nvPr/>
        </p:nvSpPr>
        <p:spPr>
          <a:xfrm>
            <a:off x="970384" y="289437"/>
            <a:ext cx="3993502" cy="923330"/>
          </a:xfrm>
          <a:prstGeom prst="rect">
            <a:avLst/>
          </a:prstGeom>
          <a:noFill/>
        </p:spPr>
        <p:txBody>
          <a:bodyPr wrap="square" rtlCol="0">
            <a:spAutoFit/>
          </a:bodyPr>
          <a:lstStyle/>
          <a:p>
            <a:r>
              <a:rPr lang="en-US" altLang="zh-CN" sz="5400" dirty="0">
                <a:solidFill>
                  <a:srgbClr val="FFC000"/>
                </a:solidFill>
              </a:rPr>
              <a:t>Discussion</a:t>
            </a:r>
            <a:endParaRPr lang="zh-CN" altLang="en-US" sz="5400" dirty="0">
              <a:solidFill>
                <a:srgbClr val="FFC000"/>
              </a:solidFill>
            </a:endParaRPr>
          </a:p>
        </p:txBody>
      </p:sp>
      <p:sp>
        <p:nvSpPr>
          <p:cNvPr id="4" name="文本框 3">
            <a:extLst>
              <a:ext uri="{FF2B5EF4-FFF2-40B4-BE49-F238E27FC236}">
                <a16:creationId xmlns:a16="http://schemas.microsoft.com/office/drawing/2014/main" id="{07AD9B76-0285-4FFF-A5AA-AB37DC2C1623}"/>
              </a:ext>
            </a:extLst>
          </p:cNvPr>
          <p:cNvSpPr txBox="1"/>
          <p:nvPr/>
        </p:nvSpPr>
        <p:spPr>
          <a:xfrm>
            <a:off x="391886" y="2071396"/>
            <a:ext cx="10916816" cy="3046988"/>
          </a:xfrm>
          <a:prstGeom prst="rect">
            <a:avLst/>
          </a:prstGeom>
          <a:noFill/>
        </p:spPr>
        <p:txBody>
          <a:bodyPr wrap="square" rtlCol="0">
            <a:spAutoFit/>
          </a:bodyPr>
          <a:lstStyle/>
          <a:p>
            <a:r>
              <a:rPr lang="zh-CN" altLang="en-US" sz="3200" b="1" dirty="0">
                <a:solidFill>
                  <a:schemeClr val="bg1"/>
                </a:solidFill>
              </a:rPr>
              <a:t>对人类肠道微生物组中疾病相关变化的模式进行分析，这些变化的方向性不同（即疾病丰富型与疾病贫乏型的分数）和程度（即病例与对照之间不同的属的总数）。一些疾病的特征是侵入致病性或疾病相关细菌（例如</a:t>
            </a:r>
            <a:r>
              <a:rPr lang="en-US" altLang="zh-CN" sz="3200" b="1" dirty="0">
                <a:solidFill>
                  <a:schemeClr val="bg1"/>
                </a:solidFill>
              </a:rPr>
              <a:t>CRC</a:t>
            </a:r>
            <a:r>
              <a:rPr lang="zh-CN" altLang="en-US" sz="3200" b="1" dirty="0">
                <a:solidFill>
                  <a:schemeClr val="bg1"/>
                </a:solidFill>
              </a:rPr>
              <a:t>），而另一些疾病主要表现出健康相关微生物（例如</a:t>
            </a:r>
            <a:r>
              <a:rPr lang="en-US" altLang="zh-CN" sz="3200" b="1" dirty="0">
                <a:solidFill>
                  <a:schemeClr val="bg1"/>
                </a:solidFill>
              </a:rPr>
              <a:t>IBD</a:t>
            </a:r>
            <a:r>
              <a:rPr lang="zh-CN" altLang="en-US" sz="3200" b="1" dirty="0">
                <a:solidFill>
                  <a:schemeClr val="bg1"/>
                </a:solidFill>
              </a:rPr>
              <a:t>）的消耗。腹泻疾病引起许多微生物群成员的大规模重排</a:t>
            </a:r>
            <a:r>
              <a:rPr lang="en-US" altLang="zh-CN" sz="3200" b="1" dirty="0">
                <a:solidFill>
                  <a:schemeClr val="bg1"/>
                </a:solidFill>
              </a:rPr>
              <a:t>.</a:t>
            </a:r>
            <a:endParaRPr lang="zh-CN" altLang="en-US" sz="3200" b="1" dirty="0">
              <a:solidFill>
                <a:schemeClr val="bg1"/>
              </a:solidFill>
            </a:endParaRPr>
          </a:p>
        </p:txBody>
      </p:sp>
      <p:sp>
        <p:nvSpPr>
          <p:cNvPr id="6" name="灯片编号占位符 5">
            <a:extLst>
              <a:ext uri="{FF2B5EF4-FFF2-40B4-BE49-F238E27FC236}">
                <a16:creationId xmlns:a16="http://schemas.microsoft.com/office/drawing/2014/main" id="{E8FBDCEA-F3EA-4C5F-9540-73B566DA1AB2}"/>
              </a:ext>
            </a:extLst>
          </p:cNvPr>
          <p:cNvSpPr>
            <a:spLocks noGrp="1"/>
          </p:cNvSpPr>
          <p:nvPr>
            <p:ph type="sldNum" sz="quarter" idx="12"/>
          </p:nvPr>
        </p:nvSpPr>
        <p:spPr/>
        <p:txBody>
          <a:bodyPr/>
          <a:lstStyle/>
          <a:p>
            <a:fld id="{53C4B9C9-2132-4B7A-9A0A-4FEC6FBD50BE}" type="slidenum">
              <a:rPr lang="zh-CN" altLang="en-US" smtClean="0"/>
              <a:t>10</a:t>
            </a:fld>
            <a:endParaRPr lang="zh-CN" altLang="en-US"/>
          </a:p>
        </p:txBody>
      </p:sp>
    </p:spTree>
    <p:extLst>
      <p:ext uri="{BB962C8B-B14F-4D97-AF65-F5344CB8AC3E}">
        <p14:creationId xmlns:p14="http://schemas.microsoft.com/office/powerpoint/2010/main" val="4006432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1457999"/>
            <a:ext cx="12192000" cy="5400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1429198"/>
            <a:ext cx="12192000" cy="360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AEA11ADC-54FC-4756-AC79-4EC0690DFAEC}"/>
              </a:ext>
            </a:extLst>
          </p:cNvPr>
          <p:cNvSpPr txBox="1"/>
          <p:nvPr/>
        </p:nvSpPr>
        <p:spPr>
          <a:xfrm>
            <a:off x="970384" y="289437"/>
            <a:ext cx="3265714" cy="923330"/>
          </a:xfrm>
          <a:prstGeom prst="rect">
            <a:avLst/>
          </a:prstGeom>
          <a:noFill/>
        </p:spPr>
        <p:txBody>
          <a:bodyPr wrap="square" rtlCol="0">
            <a:spAutoFit/>
          </a:bodyPr>
          <a:lstStyle/>
          <a:p>
            <a:r>
              <a:rPr lang="en-US" altLang="zh-CN" sz="5400" dirty="0">
                <a:solidFill>
                  <a:srgbClr val="FFC000"/>
                </a:solidFill>
              </a:rPr>
              <a:t>Methods</a:t>
            </a:r>
            <a:endParaRPr lang="zh-CN" altLang="en-US" sz="5400" dirty="0">
              <a:solidFill>
                <a:srgbClr val="FFC000"/>
              </a:solidFill>
            </a:endParaRPr>
          </a:p>
        </p:txBody>
      </p:sp>
      <p:sp>
        <p:nvSpPr>
          <p:cNvPr id="3" name="文本框 2">
            <a:extLst>
              <a:ext uri="{FF2B5EF4-FFF2-40B4-BE49-F238E27FC236}">
                <a16:creationId xmlns:a16="http://schemas.microsoft.com/office/drawing/2014/main" id="{E9ABCE67-7BC1-4845-AD20-6434E5E1B191}"/>
              </a:ext>
            </a:extLst>
          </p:cNvPr>
          <p:cNvSpPr txBox="1"/>
          <p:nvPr/>
        </p:nvSpPr>
        <p:spPr>
          <a:xfrm>
            <a:off x="615820" y="2212776"/>
            <a:ext cx="10114384" cy="4031873"/>
          </a:xfrm>
          <a:prstGeom prst="rect">
            <a:avLst/>
          </a:prstGeom>
          <a:noFill/>
        </p:spPr>
        <p:txBody>
          <a:bodyPr wrap="square" rtlCol="0">
            <a:spAutoFit/>
          </a:bodyPr>
          <a:lstStyle/>
          <a:p>
            <a:pPr marL="285750" indent="-285750">
              <a:buClr>
                <a:srgbClr val="FFC000"/>
              </a:buClr>
              <a:buFont typeface="Wingdings" panose="05000000000000000000" pitchFamily="2" charset="2"/>
              <a:buChar char="n"/>
            </a:pPr>
            <a:r>
              <a:rPr lang="en-US" altLang="zh-CN" sz="3200" b="1" dirty="0">
                <a:solidFill>
                  <a:schemeClr val="bg1"/>
                </a:solidFill>
              </a:rPr>
              <a:t>Data set collection. </a:t>
            </a:r>
          </a:p>
          <a:p>
            <a:pPr marL="285750" indent="-285750">
              <a:buClr>
                <a:srgbClr val="FFC000"/>
              </a:buClr>
              <a:buFont typeface="Wingdings" panose="05000000000000000000" pitchFamily="2" charset="2"/>
              <a:buChar char="n"/>
            </a:pPr>
            <a:r>
              <a:rPr lang="en-US" altLang="zh-CN" sz="3200" b="1" dirty="0">
                <a:solidFill>
                  <a:schemeClr val="bg1"/>
                </a:solidFill>
              </a:rPr>
              <a:t>16S processing. </a:t>
            </a:r>
          </a:p>
          <a:p>
            <a:pPr marL="285750" indent="-285750">
              <a:buClr>
                <a:srgbClr val="FFC000"/>
              </a:buClr>
              <a:buFont typeface="Wingdings" panose="05000000000000000000" pitchFamily="2" charset="2"/>
              <a:buChar char="n"/>
            </a:pPr>
            <a:r>
              <a:rPr lang="en-US" altLang="zh-CN" sz="3200" b="1" dirty="0">
                <a:solidFill>
                  <a:schemeClr val="bg1"/>
                </a:solidFill>
              </a:rPr>
              <a:t>Statistical analyses. </a:t>
            </a:r>
          </a:p>
          <a:p>
            <a:pPr marL="285750" indent="-285750">
              <a:buClr>
                <a:srgbClr val="FFC000"/>
              </a:buClr>
              <a:buFont typeface="Wingdings" panose="05000000000000000000" pitchFamily="2" charset="2"/>
              <a:buChar char="n"/>
            </a:pPr>
            <a:r>
              <a:rPr lang="en-US" altLang="zh-CN" sz="3200" b="1" dirty="0">
                <a:solidFill>
                  <a:schemeClr val="bg1"/>
                </a:solidFill>
              </a:rPr>
              <a:t>Microbiome community analyses. </a:t>
            </a:r>
          </a:p>
          <a:p>
            <a:pPr marL="285750" indent="-285750">
              <a:buClr>
                <a:srgbClr val="FFC000"/>
              </a:buClr>
              <a:buFont typeface="Wingdings" panose="05000000000000000000" pitchFamily="2" charset="2"/>
              <a:buChar char="n"/>
            </a:pPr>
            <a:r>
              <a:rPr lang="en-US" altLang="zh-CN" sz="3200" b="1" dirty="0">
                <a:solidFill>
                  <a:schemeClr val="bg1"/>
                </a:solidFill>
              </a:rPr>
              <a:t>Code availability.</a:t>
            </a:r>
          </a:p>
          <a:p>
            <a:pPr marL="742950" lvl="1" indent="-285750">
              <a:buClr>
                <a:srgbClr val="00B0F0"/>
              </a:buClr>
              <a:buSzPct val="50000"/>
              <a:buFont typeface="Wingdings" panose="05000000000000000000" pitchFamily="2" charset="2"/>
              <a:buChar char="n"/>
            </a:pPr>
            <a:r>
              <a:rPr lang="en-US" altLang="zh-CN" sz="3200" b="1" dirty="0">
                <a:solidFill>
                  <a:schemeClr val="bg1"/>
                </a:solidFill>
              </a:rPr>
              <a:t>Python</a:t>
            </a:r>
          </a:p>
          <a:p>
            <a:pPr marL="742950" lvl="1" indent="-285750">
              <a:buClr>
                <a:srgbClr val="00B0F0"/>
              </a:buClr>
              <a:buSzPct val="50000"/>
              <a:buFont typeface="Wingdings" panose="05000000000000000000" pitchFamily="2" charset="2"/>
              <a:buChar char="n"/>
            </a:pPr>
            <a:r>
              <a:rPr lang="en-US" altLang="zh-CN" sz="3200" b="1" dirty="0" err="1">
                <a:solidFill>
                  <a:schemeClr val="bg1"/>
                </a:solidFill>
              </a:rPr>
              <a:t>Github</a:t>
            </a:r>
            <a:r>
              <a:rPr lang="en-US" altLang="zh-CN" sz="3200" b="1" dirty="0">
                <a:solidFill>
                  <a:schemeClr val="bg1"/>
                </a:solidFill>
              </a:rPr>
              <a:t>(</a:t>
            </a:r>
            <a:r>
              <a:rPr lang="zh-CN" altLang="en-US" sz="3200" b="1" dirty="0">
                <a:solidFill>
                  <a:schemeClr val="bg1"/>
                </a:solidFill>
              </a:rPr>
              <a:t>本文所有分析的代码</a:t>
            </a:r>
            <a:r>
              <a:rPr lang="en-US" altLang="zh-CN" sz="3200" b="1" dirty="0">
                <a:solidFill>
                  <a:schemeClr val="bg1"/>
                </a:solidFill>
              </a:rPr>
              <a:t>)</a:t>
            </a:r>
          </a:p>
          <a:p>
            <a:pPr marL="285750" indent="-285750">
              <a:buClr>
                <a:srgbClr val="FFC000"/>
              </a:buClr>
              <a:buFont typeface="Wingdings" panose="05000000000000000000" pitchFamily="2" charset="2"/>
              <a:buChar char="n"/>
            </a:pPr>
            <a:r>
              <a:rPr lang="en-US" altLang="zh-CN" sz="3200" b="1" dirty="0">
                <a:solidFill>
                  <a:schemeClr val="bg1"/>
                </a:solidFill>
              </a:rPr>
              <a:t>Data availability. </a:t>
            </a:r>
            <a:endParaRPr lang="zh-CN" altLang="en-US" sz="3200" b="1" dirty="0">
              <a:solidFill>
                <a:schemeClr val="bg1"/>
              </a:solidFill>
            </a:endParaRPr>
          </a:p>
        </p:txBody>
      </p:sp>
      <p:sp>
        <p:nvSpPr>
          <p:cNvPr id="6" name="灯片编号占位符 5">
            <a:extLst>
              <a:ext uri="{FF2B5EF4-FFF2-40B4-BE49-F238E27FC236}">
                <a16:creationId xmlns:a16="http://schemas.microsoft.com/office/drawing/2014/main" id="{999CFEE4-D586-4283-BAF4-AB0FA430A328}"/>
              </a:ext>
            </a:extLst>
          </p:cNvPr>
          <p:cNvSpPr>
            <a:spLocks noGrp="1"/>
          </p:cNvSpPr>
          <p:nvPr>
            <p:ph type="sldNum" sz="quarter" idx="12"/>
          </p:nvPr>
        </p:nvSpPr>
        <p:spPr/>
        <p:txBody>
          <a:bodyPr/>
          <a:lstStyle/>
          <a:p>
            <a:fld id="{53C4B9C9-2132-4B7A-9A0A-4FEC6FBD50BE}" type="slidenum">
              <a:rPr lang="zh-CN" altLang="en-US" smtClean="0"/>
              <a:t>11</a:t>
            </a:fld>
            <a:endParaRPr lang="zh-CN" altLang="en-US"/>
          </a:p>
        </p:txBody>
      </p:sp>
    </p:spTree>
    <p:extLst>
      <p:ext uri="{BB962C8B-B14F-4D97-AF65-F5344CB8AC3E}">
        <p14:creationId xmlns:p14="http://schemas.microsoft.com/office/powerpoint/2010/main" val="489698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1457999"/>
            <a:ext cx="12192000" cy="5400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1429198"/>
            <a:ext cx="12192000" cy="360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AEA11ADC-54FC-4756-AC79-4EC0690DFAEC}"/>
              </a:ext>
            </a:extLst>
          </p:cNvPr>
          <p:cNvSpPr txBox="1"/>
          <p:nvPr/>
        </p:nvSpPr>
        <p:spPr>
          <a:xfrm>
            <a:off x="970384" y="289437"/>
            <a:ext cx="3993502" cy="923330"/>
          </a:xfrm>
          <a:prstGeom prst="rect">
            <a:avLst/>
          </a:prstGeom>
          <a:noFill/>
        </p:spPr>
        <p:txBody>
          <a:bodyPr wrap="square" rtlCol="0">
            <a:spAutoFit/>
          </a:bodyPr>
          <a:lstStyle/>
          <a:p>
            <a:r>
              <a:rPr lang="zh-CN" altLang="en-US" sz="5400" dirty="0">
                <a:solidFill>
                  <a:srgbClr val="FFC000"/>
                </a:solidFill>
              </a:rPr>
              <a:t>我的工作</a:t>
            </a:r>
          </a:p>
        </p:txBody>
      </p:sp>
      <p:sp>
        <p:nvSpPr>
          <p:cNvPr id="3" name="文本框 2">
            <a:extLst>
              <a:ext uri="{FF2B5EF4-FFF2-40B4-BE49-F238E27FC236}">
                <a16:creationId xmlns:a16="http://schemas.microsoft.com/office/drawing/2014/main" id="{80D6F457-A46E-4D0E-A2B8-A44C9599292A}"/>
              </a:ext>
            </a:extLst>
          </p:cNvPr>
          <p:cNvSpPr txBox="1"/>
          <p:nvPr/>
        </p:nvSpPr>
        <p:spPr>
          <a:xfrm>
            <a:off x="970384" y="2071396"/>
            <a:ext cx="9517224" cy="2554545"/>
          </a:xfrm>
          <a:prstGeom prst="rect">
            <a:avLst/>
          </a:prstGeom>
          <a:noFill/>
        </p:spPr>
        <p:txBody>
          <a:bodyPr wrap="square" rtlCol="0">
            <a:spAutoFit/>
          </a:bodyPr>
          <a:lstStyle/>
          <a:p>
            <a:r>
              <a:rPr lang="en-US" altLang="zh-CN" sz="3200" b="1" dirty="0">
                <a:solidFill>
                  <a:schemeClr val="bg1"/>
                </a:solidFill>
              </a:rPr>
              <a:t>1.</a:t>
            </a:r>
            <a:r>
              <a:rPr lang="zh-CN" altLang="en-US" sz="3200" b="1" dirty="0">
                <a:solidFill>
                  <a:schemeClr val="bg1"/>
                </a:solidFill>
              </a:rPr>
              <a:t> 访问</a:t>
            </a:r>
            <a:r>
              <a:rPr lang="en-US" altLang="zh-CN" sz="3200" b="1" dirty="0" err="1">
                <a:solidFill>
                  <a:schemeClr val="bg1"/>
                </a:solidFill>
              </a:rPr>
              <a:t>MicrobiomeHD</a:t>
            </a:r>
            <a:r>
              <a:rPr lang="zh-CN" altLang="en-US" sz="3200" b="1" dirty="0">
                <a:solidFill>
                  <a:schemeClr val="bg1"/>
                </a:solidFill>
              </a:rPr>
              <a:t>数据库</a:t>
            </a:r>
            <a:r>
              <a:rPr lang="en-US" altLang="zh-CN" sz="3200" b="1" dirty="0">
                <a:solidFill>
                  <a:schemeClr val="bg1"/>
                </a:solidFill>
              </a:rPr>
              <a:t>,</a:t>
            </a:r>
            <a:r>
              <a:rPr lang="zh-CN" altLang="en-US" sz="3200" b="1" dirty="0">
                <a:solidFill>
                  <a:schemeClr val="bg1"/>
                </a:solidFill>
              </a:rPr>
              <a:t>下载原始处理的</a:t>
            </a:r>
            <a:r>
              <a:rPr lang="en-US" altLang="zh-CN" sz="3200" b="1" dirty="0">
                <a:solidFill>
                  <a:schemeClr val="bg1"/>
                </a:solidFill>
              </a:rPr>
              <a:t>OTU</a:t>
            </a:r>
            <a:r>
              <a:rPr lang="zh-CN" altLang="en-US" sz="3200" b="1" dirty="0">
                <a:solidFill>
                  <a:schemeClr val="bg1"/>
                </a:solidFill>
              </a:rPr>
              <a:t>表格</a:t>
            </a:r>
            <a:endParaRPr lang="en-US" altLang="zh-CN" sz="3200" b="1" dirty="0">
              <a:solidFill>
                <a:schemeClr val="bg1"/>
              </a:solidFill>
            </a:endParaRPr>
          </a:p>
          <a:p>
            <a:r>
              <a:rPr lang="en-US" altLang="zh-CN" sz="3200" b="1" dirty="0">
                <a:solidFill>
                  <a:schemeClr val="bg1"/>
                </a:solidFill>
              </a:rPr>
              <a:t>2.</a:t>
            </a:r>
            <a:r>
              <a:rPr lang="zh-CN" altLang="en-US" sz="3200" b="1" dirty="0">
                <a:solidFill>
                  <a:schemeClr val="bg1"/>
                </a:solidFill>
              </a:rPr>
              <a:t>选择肠道菌常研究</a:t>
            </a:r>
            <a:r>
              <a:rPr lang="en-US" altLang="zh-CN" sz="3200" b="1" dirty="0">
                <a:solidFill>
                  <a:schemeClr val="bg1"/>
                </a:solidFill>
              </a:rPr>
              <a:t>13</a:t>
            </a:r>
            <a:r>
              <a:rPr lang="zh-CN" altLang="en-US" sz="3200" b="1" dirty="0">
                <a:solidFill>
                  <a:schemeClr val="bg1"/>
                </a:solidFill>
              </a:rPr>
              <a:t>种属或门</a:t>
            </a:r>
            <a:r>
              <a:rPr lang="en-US" altLang="zh-CN" sz="3200" b="1" dirty="0">
                <a:solidFill>
                  <a:schemeClr val="bg1"/>
                </a:solidFill>
              </a:rPr>
              <a:t>,</a:t>
            </a:r>
            <a:r>
              <a:rPr lang="zh-CN" altLang="en-US" sz="3200" b="1" dirty="0">
                <a:solidFill>
                  <a:schemeClr val="bg1"/>
                </a:solidFill>
              </a:rPr>
              <a:t>统计其在每篇文献中在疾病样本与对照样本中的平均数</a:t>
            </a:r>
            <a:r>
              <a:rPr lang="en-US" altLang="zh-CN" sz="3200" b="1" dirty="0">
                <a:solidFill>
                  <a:schemeClr val="bg1"/>
                </a:solidFill>
              </a:rPr>
              <a:t>,</a:t>
            </a:r>
            <a:r>
              <a:rPr lang="zh-CN" altLang="en-US" sz="3200" b="1" dirty="0">
                <a:solidFill>
                  <a:schemeClr val="bg1"/>
                </a:solidFill>
              </a:rPr>
              <a:t>分析对照疾病样本与对照样本变化规律</a:t>
            </a:r>
            <a:r>
              <a:rPr lang="en-US" altLang="zh-CN" sz="3200" b="1" dirty="0">
                <a:solidFill>
                  <a:schemeClr val="bg1"/>
                </a:solidFill>
              </a:rPr>
              <a:t>.</a:t>
            </a:r>
            <a:endParaRPr lang="zh-CN" altLang="en-US" sz="3200" b="1" dirty="0">
              <a:solidFill>
                <a:schemeClr val="bg1"/>
              </a:solidFill>
            </a:endParaRPr>
          </a:p>
        </p:txBody>
      </p:sp>
      <p:sp>
        <p:nvSpPr>
          <p:cNvPr id="4" name="灯片编号占位符 3">
            <a:extLst>
              <a:ext uri="{FF2B5EF4-FFF2-40B4-BE49-F238E27FC236}">
                <a16:creationId xmlns:a16="http://schemas.microsoft.com/office/drawing/2014/main" id="{0AF15263-F0D0-4A1C-9C2B-5FDA993AFE46}"/>
              </a:ext>
            </a:extLst>
          </p:cNvPr>
          <p:cNvSpPr>
            <a:spLocks noGrp="1"/>
          </p:cNvSpPr>
          <p:nvPr>
            <p:ph type="sldNum" sz="quarter" idx="12"/>
          </p:nvPr>
        </p:nvSpPr>
        <p:spPr/>
        <p:txBody>
          <a:bodyPr/>
          <a:lstStyle/>
          <a:p>
            <a:fld id="{53C4B9C9-2132-4B7A-9A0A-4FEC6FBD50BE}" type="slidenum">
              <a:rPr lang="zh-CN" altLang="en-US" smtClean="0"/>
              <a:t>12</a:t>
            </a:fld>
            <a:endParaRPr lang="zh-CN" altLang="en-US"/>
          </a:p>
        </p:txBody>
      </p:sp>
    </p:spTree>
    <p:extLst>
      <p:ext uri="{BB962C8B-B14F-4D97-AF65-F5344CB8AC3E}">
        <p14:creationId xmlns:p14="http://schemas.microsoft.com/office/powerpoint/2010/main" val="3656163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1457999"/>
            <a:ext cx="12192000" cy="5400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1429198"/>
            <a:ext cx="12192000" cy="360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AEA11ADC-54FC-4756-AC79-4EC0690DFAEC}"/>
              </a:ext>
            </a:extLst>
          </p:cNvPr>
          <p:cNvSpPr txBox="1"/>
          <p:nvPr/>
        </p:nvSpPr>
        <p:spPr>
          <a:xfrm>
            <a:off x="970384" y="289437"/>
            <a:ext cx="3993502" cy="923330"/>
          </a:xfrm>
          <a:prstGeom prst="rect">
            <a:avLst/>
          </a:prstGeom>
          <a:noFill/>
        </p:spPr>
        <p:txBody>
          <a:bodyPr wrap="square" rtlCol="0">
            <a:spAutoFit/>
          </a:bodyPr>
          <a:lstStyle/>
          <a:p>
            <a:r>
              <a:rPr lang="zh-CN" altLang="en-US" sz="5400" dirty="0">
                <a:solidFill>
                  <a:srgbClr val="FFC000"/>
                </a:solidFill>
              </a:rPr>
              <a:t>我的工作</a:t>
            </a:r>
          </a:p>
        </p:txBody>
      </p:sp>
      <p:sp>
        <p:nvSpPr>
          <p:cNvPr id="3" name="文本框 2">
            <a:extLst>
              <a:ext uri="{FF2B5EF4-FFF2-40B4-BE49-F238E27FC236}">
                <a16:creationId xmlns:a16="http://schemas.microsoft.com/office/drawing/2014/main" id="{80D6F457-A46E-4D0E-A2B8-A44C9599292A}"/>
              </a:ext>
            </a:extLst>
          </p:cNvPr>
          <p:cNvSpPr txBox="1"/>
          <p:nvPr/>
        </p:nvSpPr>
        <p:spPr>
          <a:xfrm>
            <a:off x="217714" y="1493999"/>
            <a:ext cx="11756571" cy="5632311"/>
          </a:xfrm>
          <a:prstGeom prst="rect">
            <a:avLst/>
          </a:prstGeom>
          <a:noFill/>
        </p:spPr>
        <p:txBody>
          <a:bodyPr wrap="square" rtlCol="0">
            <a:spAutoFit/>
          </a:bodyPr>
          <a:lstStyle/>
          <a:p>
            <a:r>
              <a:rPr lang="zh-CN" altLang="en-US" b="1" dirty="0">
                <a:solidFill>
                  <a:schemeClr val="bg1"/>
                </a:solidFill>
              </a:rPr>
              <a:t>各种菌的意义</a:t>
            </a:r>
          </a:p>
          <a:p>
            <a:r>
              <a:rPr lang="en-US" altLang="zh-CN" b="1" dirty="0">
                <a:solidFill>
                  <a:schemeClr val="bg1"/>
                </a:solidFill>
              </a:rPr>
              <a:t>g__</a:t>
            </a:r>
            <a:r>
              <a:rPr lang="en-US" altLang="zh-CN" b="1" dirty="0" err="1">
                <a:solidFill>
                  <a:schemeClr val="bg1"/>
                </a:solidFill>
              </a:rPr>
              <a:t>Prevotella</a:t>
            </a:r>
            <a:r>
              <a:rPr lang="en-US" altLang="zh-CN" b="1" dirty="0">
                <a:solidFill>
                  <a:schemeClr val="bg1"/>
                </a:solidFill>
              </a:rPr>
              <a:t>(01): </a:t>
            </a:r>
            <a:r>
              <a:rPr lang="zh-CN" altLang="en-US" b="1" dirty="0">
                <a:solidFill>
                  <a:schemeClr val="bg1"/>
                </a:solidFill>
              </a:rPr>
              <a:t>它是临床上较常见的一种条件致病菌</a:t>
            </a:r>
          </a:p>
          <a:p>
            <a:r>
              <a:rPr lang="en-US" altLang="zh-CN" b="1" dirty="0">
                <a:solidFill>
                  <a:schemeClr val="bg1"/>
                </a:solidFill>
              </a:rPr>
              <a:t>g__</a:t>
            </a:r>
            <a:r>
              <a:rPr lang="en-US" altLang="zh-CN" b="1" dirty="0" err="1">
                <a:solidFill>
                  <a:schemeClr val="bg1"/>
                </a:solidFill>
              </a:rPr>
              <a:t>Akkermansia</a:t>
            </a:r>
            <a:r>
              <a:rPr lang="en-US" altLang="zh-CN" b="1" dirty="0">
                <a:solidFill>
                  <a:schemeClr val="bg1"/>
                </a:solidFill>
              </a:rPr>
              <a:t>(02): </a:t>
            </a:r>
            <a:r>
              <a:rPr lang="zh-CN" altLang="en-US" b="1" dirty="0">
                <a:solidFill>
                  <a:schemeClr val="bg1"/>
                </a:solidFill>
              </a:rPr>
              <a:t>可以改善肥胖、糖尿病患者的炎症反应以及胰岛素抵抗和葡萄糖耐受等不良症状，还可以调节机体的免疫应答，维持体内代谢平衡。</a:t>
            </a:r>
          </a:p>
          <a:p>
            <a:r>
              <a:rPr lang="en-US" altLang="zh-CN" b="1" dirty="0" err="1">
                <a:solidFill>
                  <a:schemeClr val="bg1"/>
                </a:solidFill>
              </a:rPr>
              <a:t>p__Bacteroidetes</a:t>
            </a:r>
            <a:r>
              <a:rPr lang="en-US" altLang="zh-CN" b="1" dirty="0">
                <a:solidFill>
                  <a:schemeClr val="bg1"/>
                </a:solidFill>
              </a:rPr>
              <a:t>(03):</a:t>
            </a:r>
            <a:r>
              <a:rPr lang="zh-CN" altLang="en-US" b="1" dirty="0">
                <a:solidFill>
                  <a:schemeClr val="bg1"/>
                </a:solidFill>
              </a:rPr>
              <a:t>有益菌</a:t>
            </a:r>
          </a:p>
          <a:p>
            <a:r>
              <a:rPr lang="en-US" altLang="zh-CN" b="1" dirty="0" err="1">
                <a:solidFill>
                  <a:schemeClr val="bg1"/>
                </a:solidFill>
              </a:rPr>
              <a:t>p__Firmicutes</a:t>
            </a:r>
            <a:r>
              <a:rPr lang="en-US" altLang="zh-CN" b="1" dirty="0">
                <a:solidFill>
                  <a:schemeClr val="bg1"/>
                </a:solidFill>
              </a:rPr>
              <a:t>(04):</a:t>
            </a:r>
            <a:r>
              <a:rPr lang="zh-CN" altLang="en-US" b="1" dirty="0">
                <a:solidFill>
                  <a:schemeClr val="bg1"/>
                </a:solidFill>
              </a:rPr>
              <a:t>有害菌</a:t>
            </a:r>
          </a:p>
          <a:p>
            <a:r>
              <a:rPr lang="en-US" altLang="zh-CN" b="1" dirty="0" err="1">
                <a:solidFill>
                  <a:schemeClr val="bg1"/>
                </a:solidFill>
              </a:rPr>
              <a:t>g__Bacteroides</a:t>
            </a:r>
            <a:r>
              <a:rPr lang="en-US" altLang="zh-CN" b="1" dirty="0">
                <a:solidFill>
                  <a:schemeClr val="bg1"/>
                </a:solidFill>
              </a:rPr>
              <a:t>(05): </a:t>
            </a:r>
            <a:r>
              <a:rPr lang="zh-CN" altLang="en-US" b="1" dirty="0">
                <a:solidFill>
                  <a:schemeClr val="bg1"/>
                </a:solidFill>
              </a:rPr>
              <a:t>当正常的微生态平衡被打破时，可引发内源性感染。</a:t>
            </a:r>
          </a:p>
          <a:p>
            <a:r>
              <a:rPr lang="en-US" altLang="zh-CN" b="1" dirty="0" err="1">
                <a:solidFill>
                  <a:schemeClr val="bg1"/>
                </a:solidFill>
              </a:rPr>
              <a:t>g__Bifidobacterium</a:t>
            </a:r>
            <a:r>
              <a:rPr lang="en-US" altLang="zh-CN" b="1" dirty="0">
                <a:solidFill>
                  <a:schemeClr val="bg1"/>
                </a:solidFill>
              </a:rPr>
              <a:t>(06): </a:t>
            </a:r>
            <a:r>
              <a:rPr lang="zh-CN" altLang="en-US" b="1" dirty="0">
                <a:solidFill>
                  <a:schemeClr val="bg1"/>
                </a:solidFill>
              </a:rPr>
              <a:t>是人和许多哺乳动物肠道中的优势菌之一</a:t>
            </a:r>
          </a:p>
          <a:p>
            <a:r>
              <a:rPr lang="en-US" altLang="zh-CN" b="1" dirty="0">
                <a:solidFill>
                  <a:schemeClr val="bg1"/>
                </a:solidFill>
              </a:rPr>
              <a:t>Firmicutes</a:t>
            </a:r>
            <a:r>
              <a:rPr lang="zh-CN" altLang="en-US" b="1" dirty="0">
                <a:solidFill>
                  <a:schemeClr val="bg1"/>
                </a:solidFill>
              </a:rPr>
              <a:t>门是主要的低</a:t>
            </a:r>
            <a:r>
              <a:rPr lang="en-US" altLang="zh-CN" b="1" dirty="0">
                <a:solidFill>
                  <a:schemeClr val="bg1"/>
                </a:solidFill>
              </a:rPr>
              <a:t>G+C</a:t>
            </a:r>
            <a:r>
              <a:rPr lang="zh-CN" altLang="en-US" b="1" dirty="0">
                <a:solidFill>
                  <a:schemeClr val="bg1"/>
                </a:solidFill>
              </a:rPr>
              <a:t>含量的革兰氏阳性菌</a:t>
            </a:r>
            <a:r>
              <a:rPr lang="en-US" altLang="zh-CN" b="1" dirty="0">
                <a:solidFill>
                  <a:schemeClr val="bg1"/>
                </a:solidFill>
              </a:rPr>
              <a:t>, </a:t>
            </a:r>
            <a:r>
              <a:rPr lang="zh-CN" altLang="en-US" b="1" dirty="0">
                <a:solidFill>
                  <a:schemeClr val="bg1"/>
                </a:solidFill>
              </a:rPr>
              <a:t>其主要成员有以下几种</a:t>
            </a:r>
          </a:p>
          <a:p>
            <a:r>
              <a:rPr lang="en-US" altLang="zh-CN" b="1" dirty="0">
                <a:solidFill>
                  <a:schemeClr val="bg1"/>
                </a:solidFill>
              </a:rPr>
              <a:t>g__</a:t>
            </a:r>
            <a:r>
              <a:rPr lang="en-US" altLang="zh-CN" b="1" dirty="0" err="1">
                <a:solidFill>
                  <a:schemeClr val="bg1"/>
                </a:solidFill>
              </a:rPr>
              <a:t>Clostridium_IV</a:t>
            </a:r>
            <a:r>
              <a:rPr lang="en-US" altLang="zh-CN" b="1" dirty="0">
                <a:solidFill>
                  <a:schemeClr val="bg1"/>
                </a:solidFill>
              </a:rPr>
              <a:t>(07):</a:t>
            </a:r>
          </a:p>
          <a:p>
            <a:r>
              <a:rPr lang="en-US" altLang="zh-CN" b="1" dirty="0">
                <a:solidFill>
                  <a:schemeClr val="bg1"/>
                </a:solidFill>
              </a:rPr>
              <a:t>g__</a:t>
            </a:r>
            <a:r>
              <a:rPr lang="en-US" altLang="zh-CN" b="1" dirty="0" err="1">
                <a:solidFill>
                  <a:schemeClr val="bg1"/>
                </a:solidFill>
              </a:rPr>
              <a:t>Clostridium_XI</a:t>
            </a:r>
            <a:r>
              <a:rPr lang="en-US" altLang="zh-CN" b="1" dirty="0">
                <a:solidFill>
                  <a:schemeClr val="bg1"/>
                </a:solidFill>
              </a:rPr>
              <a:t>(08):</a:t>
            </a:r>
          </a:p>
          <a:p>
            <a:r>
              <a:rPr lang="en-US" altLang="zh-CN" b="1" dirty="0">
                <a:solidFill>
                  <a:schemeClr val="bg1"/>
                </a:solidFill>
              </a:rPr>
              <a:t>g__</a:t>
            </a:r>
            <a:r>
              <a:rPr lang="en-US" altLang="zh-CN" b="1" dirty="0" err="1">
                <a:solidFill>
                  <a:schemeClr val="bg1"/>
                </a:solidFill>
              </a:rPr>
              <a:t>Clostridium_XlVa</a:t>
            </a:r>
            <a:r>
              <a:rPr lang="en-US" altLang="zh-CN" b="1" dirty="0">
                <a:solidFill>
                  <a:schemeClr val="bg1"/>
                </a:solidFill>
              </a:rPr>
              <a:t>(09):</a:t>
            </a:r>
          </a:p>
          <a:p>
            <a:r>
              <a:rPr lang="en-US" altLang="zh-CN" b="1" dirty="0">
                <a:solidFill>
                  <a:schemeClr val="bg1"/>
                </a:solidFill>
              </a:rPr>
              <a:t>g__</a:t>
            </a:r>
            <a:r>
              <a:rPr lang="en-US" altLang="zh-CN" b="1" dirty="0" err="1">
                <a:solidFill>
                  <a:schemeClr val="bg1"/>
                </a:solidFill>
              </a:rPr>
              <a:t>Clostridium_XlVb</a:t>
            </a:r>
            <a:r>
              <a:rPr lang="en-US" altLang="zh-CN" b="1" dirty="0">
                <a:solidFill>
                  <a:schemeClr val="bg1"/>
                </a:solidFill>
              </a:rPr>
              <a:t>(10):</a:t>
            </a:r>
          </a:p>
          <a:p>
            <a:r>
              <a:rPr lang="en-US" altLang="zh-CN" b="1" dirty="0" err="1">
                <a:solidFill>
                  <a:schemeClr val="bg1"/>
                </a:solidFill>
              </a:rPr>
              <a:t>g__Lactobacillus</a:t>
            </a:r>
            <a:r>
              <a:rPr lang="en-US" altLang="zh-CN" b="1" dirty="0">
                <a:solidFill>
                  <a:schemeClr val="bg1"/>
                </a:solidFill>
              </a:rPr>
              <a:t>(11): </a:t>
            </a:r>
            <a:r>
              <a:rPr lang="zh-CN" altLang="en-US" b="1" dirty="0">
                <a:solidFill>
                  <a:schemeClr val="bg1"/>
                </a:solidFill>
              </a:rPr>
              <a:t>活性乳酸菌</a:t>
            </a:r>
            <a:r>
              <a:rPr lang="en-US" altLang="zh-CN" b="1" dirty="0">
                <a:solidFill>
                  <a:schemeClr val="bg1"/>
                </a:solidFill>
              </a:rPr>
              <a:t>,</a:t>
            </a:r>
            <a:r>
              <a:rPr lang="zh-CN" altLang="en-US" b="1" dirty="0">
                <a:solidFill>
                  <a:schemeClr val="bg1"/>
                </a:solidFill>
              </a:rPr>
              <a:t>促进铁和维生素的吸收</a:t>
            </a:r>
            <a:r>
              <a:rPr lang="en-US" altLang="zh-CN" b="1" dirty="0">
                <a:solidFill>
                  <a:schemeClr val="bg1"/>
                </a:solidFill>
              </a:rPr>
              <a:t>,</a:t>
            </a:r>
            <a:r>
              <a:rPr lang="zh-CN" altLang="en-US" b="1" dirty="0">
                <a:solidFill>
                  <a:schemeClr val="bg1"/>
                </a:solidFill>
              </a:rPr>
              <a:t>维持肠道菌群平衡</a:t>
            </a:r>
            <a:r>
              <a:rPr lang="en-US" altLang="zh-CN" b="1" dirty="0">
                <a:solidFill>
                  <a:schemeClr val="bg1"/>
                </a:solidFill>
              </a:rPr>
              <a:t>,</a:t>
            </a:r>
            <a:r>
              <a:rPr lang="zh-CN" altLang="en-US" b="1" dirty="0">
                <a:solidFill>
                  <a:schemeClr val="bg1"/>
                </a:solidFill>
              </a:rPr>
              <a:t>抑制腐败细菌的繁殖</a:t>
            </a:r>
            <a:r>
              <a:rPr lang="en-US" altLang="zh-CN" b="1" dirty="0">
                <a:solidFill>
                  <a:schemeClr val="bg1"/>
                </a:solidFill>
              </a:rPr>
              <a:t>,</a:t>
            </a:r>
            <a:r>
              <a:rPr lang="zh-CN" altLang="en-US" b="1" dirty="0">
                <a:solidFill>
                  <a:schemeClr val="bg1"/>
                </a:solidFill>
              </a:rPr>
              <a:t>减少肠道内毒素沉积</a:t>
            </a:r>
            <a:r>
              <a:rPr lang="en-US" altLang="zh-CN" b="1" dirty="0">
                <a:solidFill>
                  <a:schemeClr val="bg1"/>
                </a:solidFill>
              </a:rPr>
              <a:t>.</a:t>
            </a:r>
          </a:p>
          <a:p>
            <a:r>
              <a:rPr lang="en-US" altLang="zh-CN" b="1" dirty="0">
                <a:solidFill>
                  <a:schemeClr val="bg1"/>
                </a:solidFill>
              </a:rPr>
              <a:t>g__</a:t>
            </a:r>
            <a:r>
              <a:rPr lang="en-US" altLang="zh-CN" b="1" dirty="0" err="1">
                <a:solidFill>
                  <a:schemeClr val="bg1"/>
                </a:solidFill>
              </a:rPr>
              <a:t>Oscillibacter</a:t>
            </a:r>
            <a:r>
              <a:rPr lang="en-US" altLang="zh-CN" b="1" dirty="0">
                <a:solidFill>
                  <a:schemeClr val="bg1"/>
                </a:solidFill>
              </a:rPr>
              <a:t>(12): </a:t>
            </a:r>
            <a:r>
              <a:rPr lang="zh-CN" altLang="en-US" b="1" dirty="0">
                <a:solidFill>
                  <a:schemeClr val="bg1"/>
                </a:solidFill>
              </a:rPr>
              <a:t>颤杆菌</a:t>
            </a:r>
          </a:p>
          <a:p>
            <a:r>
              <a:rPr lang="en-US" altLang="zh-CN" b="1" dirty="0" err="1">
                <a:solidFill>
                  <a:schemeClr val="bg1"/>
                </a:solidFill>
              </a:rPr>
              <a:t>g__Parabacteroides</a:t>
            </a:r>
            <a:r>
              <a:rPr lang="en-US" altLang="zh-CN" b="1" dirty="0">
                <a:solidFill>
                  <a:schemeClr val="bg1"/>
                </a:solidFill>
              </a:rPr>
              <a:t>(13):</a:t>
            </a:r>
            <a:r>
              <a:rPr lang="zh-CN" altLang="en-US" b="1" dirty="0">
                <a:solidFill>
                  <a:schemeClr val="bg1"/>
                </a:solidFill>
              </a:rPr>
              <a:t>常用</a:t>
            </a:r>
          </a:p>
          <a:p>
            <a:r>
              <a:rPr lang="en-US" altLang="zh-CN" b="1" dirty="0" err="1">
                <a:solidFill>
                  <a:schemeClr val="bg1"/>
                </a:solidFill>
              </a:rPr>
              <a:t>p__Bacteroidetes</a:t>
            </a:r>
            <a:r>
              <a:rPr lang="en-US" altLang="zh-CN" b="1" dirty="0">
                <a:solidFill>
                  <a:schemeClr val="bg1"/>
                </a:solidFill>
              </a:rPr>
              <a:t>/</a:t>
            </a:r>
            <a:r>
              <a:rPr lang="en-US" altLang="zh-CN" b="1" dirty="0" err="1">
                <a:solidFill>
                  <a:schemeClr val="bg1"/>
                </a:solidFill>
              </a:rPr>
              <a:t>p__Firmicutes</a:t>
            </a:r>
            <a:r>
              <a:rPr lang="en-US" altLang="zh-CN" b="1" dirty="0">
                <a:solidFill>
                  <a:schemeClr val="bg1"/>
                </a:solidFill>
              </a:rPr>
              <a:t>(14):</a:t>
            </a:r>
            <a:r>
              <a:rPr lang="zh-CN" altLang="en-US" b="1" dirty="0">
                <a:solidFill>
                  <a:schemeClr val="bg1"/>
                </a:solidFill>
              </a:rPr>
              <a:t>有益菌与有害菌的比值</a:t>
            </a:r>
          </a:p>
          <a:p>
            <a:r>
              <a:rPr lang="en-US" altLang="zh-CN" b="1" dirty="0">
                <a:solidFill>
                  <a:schemeClr val="bg1"/>
                </a:solidFill>
              </a:rPr>
              <a:t>g__</a:t>
            </a:r>
            <a:r>
              <a:rPr lang="en-US" altLang="zh-CN" b="1" dirty="0" err="1">
                <a:solidFill>
                  <a:schemeClr val="bg1"/>
                </a:solidFill>
              </a:rPr>
              <a:t>Prevotella</a:t>
            </a:r>
            <a:r>
              <a:rPr lang="en-US" altLang="zh-CN" b="1" dirty="0">
                <a:solidFill>
                  <a:schemeClr val="bg1"/>
                </a:solidFill>
              </a:rPr>
              <a:t>/</a:t>
            </a:r>
            <a:r>
              <a:rPr lang="en-US" altLang="zh-CN" b="1" dirty="0" err="1">
                <a:solidFill>
                  <a:schemeClr val="bg1"/>
                </a:solidFill>
              </a:rPr>
              <a:t>g__Bacteroides</a:t>
            </a:r>
            <a:r>
              <a:rPr lang="en-US" altLang="zh-CN" b="1" dirty="0">
                <a:solidFill>
                  <a:schemeClr val="bg1"/>
                </a:solidFill>
              </a:rPr>
              <a:t>(15):</a:t>
            </a:r>
            <a:r>
              <a:rPr lang="zh-CN" altLang="en-US" b="1" dirty="0">
                <a:solidFill>
                  <a:schemeClr val="bg1"/>
                </a:solidFill>
              </a:rPr>
              <a:t>常用</a:t>
            </a:r>
          </a:p>
          <a:p>
            <a:endParaRPr lang="zh-CN" altLang="en-US" b="1" dirty="0">
              <a:solidFill>
                <a:schemeClr val="bg1"/>
              </a:solidFill>
            </a:endParaRPr>
          </a:p>
        </p:txBody>
      </p:sp>
      <p:sp>
        <p:nvSpPr>
          <p:cNvPr id="4" name="灯片编号占位符 3">
            <a:extLst>
              <a:ext uri="{FF2B5EF4-FFF2-40B4-BE49-F238E27FC236}">
                <a16:creationId xmlns:a16="http://schemas.microsoft.com/office/drawing/2014/main" id="{C0743830-FCE5-4F95-B1EE-1DCC92375C23}"/>
              </a:ext>
            </a:extLst>
          </p:cNvPr>
          <p:cNvSpPr>
            <a:spLocks noGrp="1"/>
          </p:cNvSpPr>
          <p:nvPr>
            <p:ph type="sldNum" sz="quarter" idx="12"/>
          </p:nvPr>
        </p:nvSpPr>
        <p:spPr/>
        <p:txBody>
          <a:bodyPr/>
          <a:lstStyle/>
          <a:p>
            <a:fld id="{53C4B9C9-2132-4B7A-9A0A-4FEC6FBD50BE}" type="slidenum">
              <a:rPr lang="zh-CN" altLang="en-US" smtClean="0"/>
              <a:t>13</a:t>
            </a:fld>
            <a:endParaRPr lang="zh-CN" altLang="en-US"/>
          </a:p>
        </p:txBody>
      </p:sp>
    </p:spTree>
    <p:extLst>
      <p:ext uri="{BB962C8B-B14F-4D97-AF65-F5344CB8AC3E}">
        <p14:creationId xmlns:p14="http://schemas.microsoft.com/office/powerpoint/2010/main" val="9558726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1457999"/>
            <a:ext cx="12192000" cy="5400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1429198"/>
            <a:ext cx="12192000" cy="360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AEA11ADC-54FC-4756-AC79-4EC0690DFAEC}"/>
              </a:ext>
            </a:extLst>
          </p:cNvPr>
          <p:cNvSpPr txBox="1"/>
          <p:nvPr/>
        </p:nvSpPr>
        <p:spPr>
          <a:xfrm>
            <a:off x="970384" y="289437"/>
            <a:ext cx="3993502" cy="923330"/>
          </a:xfrm>
          <a:prstGeom prst="rect">
            <a:avLst/>
          </a:prstGeom>
          <a:noFill/>
        </p:spPr>
        <p:txBody>
          <a:bodyPr wrap="square" rtlCol="0">
            <a:spAutoFit/>
          </a:bodyPr>
          <a:lstStyle/>
          <a:p>
            <a:r>
              <a:rPr lang="zh-CN" altLang="en-US" sz="5400" dirty="0">
                <a:solidFill>
                  <a:srgbClr val="FFC000"/>
                </a:solidFill>
              </a:rPr>
              <a:t>我的工作</a:t>
            </a:r>
          </a:p>
        </p:txBody>
      </p:sp>
      <p:sp>
        <p:nvSpPr>
          <p:cNvPr id="3" name="文本框 2">
            <a:extLst>
              <a:ext uri="{FF2B5EF4-FFF2-40B4-BE49-F238E27FC236}">
                <a16:creationId xmlns:a16="http://schemas.microsoft.com/office/drawing/2014/main" id="{80D6F457-A46E-4D0E-A2B8-A44C9599292A}"/>
              </a:ext>
            </a:extLst>
          </p:cNvPr>
          <p:cNvSpPr txBox="1"/>
          <p:nvPr/>
        </p:nvSpPr>
        <p:spPr>
          <a:xfrm>
            <a:off x="292204" y="2071396"/>
            <a:ext cx="9517224" cy="3539430"/>
          </a:xfrm>
          <a:prstGeom prst="rect">
            <a:avLst/>
          </a:prstGeom>
          <a:noFill/>
        </p:spPr>
        <p:txBody>
          <a:bodyPr wrap="square" rtlCol="0">
            <a:spAutoFit/>
          </a:bodyPr>
          <a:lstStyle/>
          <a:p>
            <a:r>
              <a:rPr lang="en-US" altLang="zh-CN" sz="3200" b="1" dirty="0">
                <a:solidFill>
                  <a:schemeClr val="bg1"/>
                </a:solidFill>
              </a:rPr>
              <a:t>3.</a:t>
            </a:r>
            <a:r>
              <a:rPr lang="zh-CN" altLang="en-US" sz="3200" b="1" dirty="0">
                <a:solidFill>
                  <a:schemeClr val="bg1"/>
                </a:solidFill>
              </a:rPr>
              <a:t>我们筛选出数据大于等于两条的相同疾病的数据</a:t>
            </a:r>
            <a:r>
              <a:rPr lang="en-US" altLang="zh-CN" sz="3200" b="1" dirty="0">
                <a:solidFill>
                  <a:schemeClr val="bg1"/>
                </a:solidFill>
              </a:rPr>
              <a:t>,</a:t>
            </a:r>
            <a:r>
              <a:rPr lang="zh-CN" altLang="en-US" sz="3200" b="1" dirty="0">
                <a:solidFill>
                  <a:schemeClr val="bg1"/>
                </a:solidFill>
              </a:rPr>
              <a:t>寻找其变化规律的一致性</a:t>
            </a:r>
            <a:r>
              <a:rPr lang="en-US" altLang="zh-CN" sz="3200" b="1" dirty="0">
                <a:solidFill>
                  <a:schemeClr val="bg1"/>
                </a:solidFill>
              </a:rPr>
              <a:t>,</a:t>
            </a:r>
            <a:r>
              <a:rPr lang="zh-CN" altLang="en-US" sz="3200" b="1" dirty="0">
                <a:solidFill>
                  <a:schemeClr val="bg1"/>
                </a:solidFill>
              </a:rPr>
              <a:t>如果数据都为增加</a:t>
            </a:r>
            <a:r>
              <a:rPr lang="en-US" altLang="zh-CN" sz="3200" b="1" dirty="0">
                <a:solidFill>
                  <a:schemeClr val="bg1"/>
                </a:solidFill>
              </a:rPr>
              <a:t>,</a:t>
            </a:r>
            <a:r>
              <a:rPr lang="zh-CN" altLang="en-US" sz="3200" b="1" dirty="0">
                <a:solidFill>
                  <a:schemeClr val="bg1"/>
                </a:solidFill>
              </a:rPr>
              <a:t>说明此项指标在患病人群中增加</a:t>
            </a:r>
            <a:r>
              <a:rPr lang="en-US" altLang="zh-CN" sz="3200" b="1" dirty="0">
                <a:solidFill>
                  <a:schemeClr val="bg1"/>
                </a:solidFill>
              </a:rPr>
              <a:t>.</a:t>
            </a:r>
          </a:p>
          <a:p>
            <a:r>
              <a:rPr lang="zh-CN" altLang="en-US" sz="3200" b="1" dirty="0">
                <a:solidFill>
                  <a:schemeClr val="bg1"/>
                </a:solidFill>
              </a:rPr>
              <a:t>根据纵坐标为</a:t>
            </a:r>
          </a:p>
          <a:p>
            <a:r>
              <a:rPr lang="en-US" altLang="zh-CN" sz="3200" b="1" dirty="0">
                <a:solidFill>
                  <a:schemeClr val="bg1"/>
                </a:solidFill>
              </a:rPr>
              <a:t>(</a:t>
            </a:r>
            <a:r>
              <a:rPr lang="zh-CN" altLang="en-US" sz="3200" b="1" dirty="0">
                <a:solidFill>
                  <a:schemeClr val="bg1"/>
                </a:solidFill>
              </a:rPr>
              <a:t>疾病</a:t>
            </a:r>
            <a:r>
              <a:rPr lang="en-US" altLang="zh-CN" sz="3200" b="1" dirty="0">
                <a:solidFill>
                  <a:schemeClr val="bg1"/>
                </a:solidFill>
              </a:rPr>
              <a:t>-</a:t>
            </a:r>
            <a:r>
              <a:rPr lang="zh-CN" altLang="en-US" sz="3200" b="1" dirty="0">
                <a:solidFill>
                  <a:schemeClr val="bg1"/>
                </a:solidFill>
              </a:rPr>
              <a:t>健康</a:t>
            </a:r>
            <a:r>
              <a:rPr lang="en-US" altLang="zh-CN" sz="3200" b="1" dirty="0">
                <a:solidFill>
                  <a:schemeClr val="bg1"/>
                </a:solidFill>
              </a:rPr>
              <a:t>)/(</a:t>
            </a:r>
            <a:r>
              <a:rPr lang="zh-CN" altLang="en-US" sz="3200" b="1" dirty="0">
                <a:solidFill>
                  <a:schemeClr val="bg1"/>
                </a:solidFill>
              </a:rPr>
              <a:t>疾病</a:t>
            </a:r>
            <a:r>
              <a:rPr lang="en-US" altLang="zh-CN" sz="3200" b="1" dirty="0">
                <a:solidFill>
                  <a:schemeClr val="bg1"/>
                </a:solidFill>
              </a:rPr>
              <a:t>+</a:t>
            </a:r>
            <a:r>
              <a:rPr lang="zh-CN" altLang="en-US" sz="3200" b="1" dirty="0">
                <a:solidFill>
                  <a:schemeClr val="bg1"/>
                </a:solidFill>
              </a:rPr>
              <a:t>健康</a:t>
            </a:r>
            <a:r>
              <a:rPr lang="en-US" altLang="zh-CN" sz="3200" b="1" dirty="0">
                <a:solidFill>
                  <a:schemeClr val="bg1"/>
                </a:solidFill>
              </a:rPr>
              <a:t>),</a:t>
            </a:r>
            <a:r>
              <a:rPr lang="zh-CN" altLang="en-US" sz="3200" b="1" dirty="0">
                <a:solidFill>
                  <a:schemeClr val="bg1"/>
                </a:solidFill>
              </a:rPr>
              <a:t>横坐标为</a:t>
            </a:r>
            <a:r>
              <a:rPr lang="en-US" altLang="zh-CN" sz="3200" b="1" dirty="0">
                <a:solidFill>
                  <a:schemeClr val="bg1"/>
                </a:solidFill>
              </a:rPr>
              <a:t>15</a:t>
            </a:r>
            <a:r>
              <a:rPr lang="zh-CN" altLang="en-US" sz="3200" b="1" dirty="0">
                <a:solidFill>
                  <a:schemeClr val="bg1"/>
                </a:solidFill>
              </a:rPr>
              <a:t>项参数进行绘图分析</a:t>
            </a:r>
            <a:r>
              <a:rPr lang="en-US" altLang="zh-CN" sz="3200" b="1" dirty="0">
                <a:solidFill>
                  <a:schemeClr val="bg1"/>
                </a:solidFill>
              </a:rPr>
              <a:t>,</a:t>
            </a:r>
            <a:r>
              <a:rPr lang="zh-CN" altLang="en-US" sz="3200" b="1" dirty="0">
                <a:solidFill>
                  <a:schemeClr val="bg1"/>
                </a:solidFill>
              </a:rPr>
              <a:t>大于</a:t>
            </a:r>
            <a:r>
              <a:rPr lang="en-US" altLang="zh-CN" sz="3200" b="1" dirty="0">
                <a:solidFill>
                  <a:schemeClr val="bg1"/>
                </a:solidFill>
              </a:rPr>
              <a:t>0</a:t>
            </a:r>
            <a:r>
              <a:rPr lang="zh-CN" altLang="en-US" sz="3200" b="1" dirty="0">
                <a:solidFill>
                  <a:schemeClr val="bg1"/>
                </a:solidFill>
              </a:rPr>
              <a:t>说明在疾病中增多</a:t>
            </a:r>
            <a:r>
              <a:rPr lang="en-US" altLang="zh-CN" sz="3200" b="1" dirty="0">
                <a:solidFill>
                  <a:schemeClr val="bg1"/>
                </a:solidFill>
              </a:rPr>
              <a:t>,</a:t>
            </a:r>
            <a:r>
              <a:rPr lang="zh-CN" altLang="en-US" sz="3200" b="1" dirty="0">
                <a:solidFill>
                  <a:schemeClr val="bg1"/>
                </a:solidFill>
              </a:rPr>
              <a:t>反之减小</a:t>
            </a:r>
            <a:r>
              <a:rPr lang="en-US" altLang="zh-CN" sz="3200" b="1" dirty="0">
                <a:solidFill>
                  <a:schemeClr val="bg1"/>
                </a:solidFill>
              </a:rPr>
              <a:t>.</a:t>
            </a:r>
          </a:p>
          <a:p>
            <a:endParaRPr lang="zh-CN" altLang="en-US" sz="3200" b="1" dirty="0">
              <a:solidFill>
                <a:schemeClr val="bg1"/>
              </a:solidFill>
            </a:endParaRPr>
          </a:p>
        </p:txBody>
      </p:sp>
      <p:pic>
        <p:nvPicPr>
          <p:cNvPr id="6" name="图片 5">
            <a:extLst>
              <a:ext uri="{FF2B5EF4-FFF2-40B4-BE49-F238E27FC236}">
                <a16:creationId xmlns:a16="http://schemas.microsoft.com/office/drawing/2014/main" id="{5B3F4038-2E5F-4633-96D5-70428F6D842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885045" y="2071396"/>
            <a:ext cx="2231338" cy="4212000"/>
          </a:xfrm>
          <a:prstGeom prst="rect">
            <a:avLst/>
          </a:prstGeom>
          <a:noFill/>
          <a:ln>
            <a:noFill/>
          </a:ln>
        </p:spPr>
      </p:pic>
      <p:sp>
        <p:nvSpPr>
          <p:cNvPr id="4" name="灯片编号占位符 3">
            <a:extLst>
              <a:ext uri="{FF2B5EF4-FFF2-40B4-BE49-F238E27FC236}">
                <a16:creationId xmlns:a16="http://schemas.microsoft.com/office/drawing/2014/main" id="{2ED80C4C-A870-41A9-B42C-9B540DB47342}"/>
              </a:ext>
            </a:extLst>
          </p:cNvPr>
          <p:cNvSpPr>
            <a:spLocks noGrp="1"/>
          </p:cNvSpPr>
          <p:nvPr>
            <p:ph type="sldNum" sz="quarter" idx="12"/>
          </p:nvPr>
        </p:nvSpPr>
        <p:spPr/>
        <p:txBody>
          <a:bodyPr/>
          <a:lstStyle/>
          <a:p>
            <a:fld id="{53C4B9C9-2132-4B7A-9A0A-4FEC6FBD50BE}" type="slidenum">
              <a:rPr lang="zh-CN" altLang="en-US" smtClean="0"/>
              <a:t>14</a:t>
            </a:fld>
            <a:endParaRPr lang="zh-CN" altLang="en-US"/>
          </a:p>
        </p:txBody>
      </p:sp>
    </p:spTree>
    <p:extLst>
      <p:ext uri="{BB962C8B-B14F-4D97-AF65-F5344CB8AC3E}">
        <p14:creationId xmlns:p14="http://schemas.microsoft.com/office/powerpoint/2010/main" val="3651715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1457999"/>
            <a:ext cx="12192000" cy="5400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1429198"/>
            <a:ext cx="12192000" cy="360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a:extLst>
              <a:ext uri="{FF2B5EF4-FFF2-40B4-BE49-F238E27FC236}">
                <a16:creationId xmlns:a16="http://schemas.microsoft.com/office/drawing/2014/main" id="{AEA11ADC-54FC-4756-AC79-4EC0690DFAEC}"/>
              </a:ext>
            </a:extLst>
          </p:cNvPr>
          <p:cNvSpPr txBox="1"/>
          <p:nvPr/>
        </p:nvSpPr>
        <p:spPr>
          <a:xfrm>
            <a:off x="970384" y="289437"/>
            <a:ext cx="6464086" cy="923330"/>
          </a:xfrm>
          <a:prstGeom prst="rect">
            <a:avLst/>
          </a:prstGeom>
          <a:noFill/>
        </p:spPr>
        <p:txBody>
          <a:bodyPr wrap="square" rtlCol="0">
            <a:spAutoFit/>
          </a:bodyPr>
          <a:lstStyle/>
          <a:p>
            <a:r>
              <a:rPr lang="en-US" altLang="zh-CN" sz="5400" dirty="0">
                <a:solidFill>
                  <a:srgbClr val="FFC000"/>
                </a:solidFill>
              </a:rPr>
              <a:t>10</a:t>
            </a:r>
            <a:r>
              <a:rPr lang="zh-CN" altLang="en-US" sz="5400" dirty="0">
                <a:solidFill>
                  <a:srgbClr val="FFC000"/>
                </a:solidFill>
              </a:rPr>
              <a:t>种疾病之一</a:t>
            </a:r>
            <a:r>
              <a:rPr lang="en-US" altLang="zh-CN" sz="5400" dirty="0">
                <a:solidFill>
                  <a:srgbClr val="FFC000"/>
                </a:solidFill>
              </a:rPr>
              <a:t>CD</a:t>
            </a:r>
            <a:endParaRPr lang="zh-CN" altLang="en-US" sz="5400" dirty="0">
              <a:solidFill>
                <a:srgbClr val="FFC000"/>
              </a:solidFill>
            </a:endParaRPr>
          </a:p>
        </p:txBody>
      </p:sp>
      <p:pic>
        <p:nvPicPr>
          <p:cNvPr id="8" name="图片 7">
            <a:extLst>
              <a:ext uri="{FF2B5EF4-FFF2-40B4-BE49-F238E27FC236}">
                <a16:creationId xmlns:a16="http://schemas.microsoft.com/office/drawing/2014/main" id="{D1F4F6B2-2A10-409C-BC74-900D5EB8A8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81629"/>
            <a:ext cx="27381112" cy="1332000"/>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a:extLst>
              <a:ext uri="{FF2B5EF4-FFF2-40B4-BE49-F238E27FC236}">
                <a16:creationId xmlns:a16="http://schemas.microsoft.com/office/drawing/2014/main" id="{12046907-EF4B-4602-B210-04CB19DD8D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7529" y="3013629"/>
            <a:ext cx="10420350" cy="4133850"/>
          </a:xfrm>
          <a:prstGeom prst="rect">
            <a:avLst/>
          </a:prstGeom>
        </p:spPr>
      </p:pic>
      <p:sp>
        <p:nvSpPr>
          <p:cNvPr id="11" name="灯片编号占位符 10">
            <a:extLst>
              <a:ext uri="{FF2B5EF4-FFF2-40B4-BE49-F238E27FC236}">
                <a16:creationId xmlns:a16="http://schemas.microsoft.com/office/drawing/2014/main" id="{6CAE4333-95B1-44AC-B379-BAD5D3EE9854}"/>
              </a:ext>
            </a:extLst>
          </p:cNvPr>
          <p:cNvSpPr>
            <a:spLocks noGrp="1"/>
          </p:cNvSpPr>
          <p:nvPr>
            <p:ph type="sldNum" sz="quarter" idx="12"/>
          </p:nvPr>
        </p:nvSpPr>
        <p:spPr/>
        <p:txBody>
          <a:bodyPr/>
          <a:lstStyle/>
          <a:p>
            <a:fld id="{53C4B9C9-2132-4B7A-9A0A-4FEC6FBD50BE}" type="slidenum">
              <a:rPr lang="zh-CN" altLang="en-US" smtClean="0"/>
              <a:t>15</a:t>
            </a:fld>
            <a:endParaRPr lang="zh-CN" altLang="en-US"/>
          </a:p>
        </p:txBody>
      </p:sp>
    </p:spTree>
    <p:extLst>
      <p:ext uri="{BB962C8B-B14F-4D97-AF65-F5344CB8AC3E}">
        <p14:creationId xmlns:p14="http://schemas.microsoft.com/office/powerpoint/2010/main" val="2824664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4892040"/>
            <a:ext cx="12192000" cy="1965960"/>
          </a:xfrm>
          <a:prstGeom prst="rect">
            <a:avLst/>
          </a:prstGeom>
          <a:gradFill flip="none" rotWithShape="1">
            <a:gsLst>
              <a:gs pos="23000">
                <a:srgbClr val="939393">
                  <a:lumMod val="96000"/>
                </a:srgbClr>
              </a:gs>
              <a:gs pos="22281">
                <a:srgbClr val="939393"/>
              </a:gs>
              <a:gs pos="21562">
                <a:srgbClr val="939393"/>
              </a:gs>
              <a:gs pos="20125">
                <a:srgbClr val="939393"/>
              </a:gs>
              <a:gs pos="17250">
                <a:srgbClr val="939393"/>
              </a:gs>
              <a:gs pos="11500">
                <a:srgbClr val="939393"/>
              </a:gs>
              <a:gs pos="0">
                <a:schemeClr val="accent3">
                  <a:lumMod val="89000"/>
                </a:schemeClr>
              </a:gs>
              <a:gs pos="23000">
                <a:schemeClr val="accent3">
                  <a:lumMod val="89000"/>
                </a:schemeClr>
              </a:gs>
              <a:gs pos="69000">
                <a:schemeClr val="accent3">
                  <a:lumMod val="75000"/>
                </a:schemeClr>
              </a:gs>
              <a:gs pos="97000">
                <a:schemeClr val="accent3">
                  <a:lumMod val="7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4892039"/>
            <a:ext cx="12192000" cy="288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chemeClr val="tx1"/>
                </a:solidFill>
              </a:ln>
            </a:endParaRPr>
          </a:p>
        </p:txBody>
      </p:sp>
      <p:sp>
        <p:nvSpPr>
          <p:cNvPr id="2" name="文本框 1">
            <a:extLst>
              <a:ext uri="{FF2B5EF4-FFF2-40B4-BE49-F238E27FC236}">
                <a16:creationId xmlns:a16="http://schemas.microsoft.com/office/drawing/2014/main" id="{D768FFF2-9E9B-4F5E-921A-00CE957C184B}"/>
              </a:ext>
            </a:extLst>
          </p:cNvPr>
          <p:cNvSpPr txBox="1"/>
          <p:nvPr/>
        </p:nvSpPr>
        <p:spPr>
          <a:xfrm>
            <a:off x="1234440" y="5274855"/>
            <a:ext cx="5471160" cy="1200329"/>
          </a:xfrm>
          <a:prstGeom prst="rect">
            <a:avLst/>
          </a:prstGeom>
          <a:noFill/>
        </p:spPr>
        <p:txBody>
          <a:bodyPr wrap="square" rtlCol="0">
            <a:spAutoFit/>
          </a:bodyPr>
          <a:lstStyle/>
          <a:p>
            <a:r>
              <a:rPr lang="en-US" altLang="zh-CN" sz="2400" b="1" dirty="0">
                <a:solidFill>
                  <a:srgbClr val="FFFFFF"/>
                </a:solidFill>
                <a:latin typeface="Arial" panose="020B0604020202020204" pitchFamily="34" charset="0"/>
              </a:rPr>
              <a:t>Name: Wang </a:t>
            </a:r>
            <a:r>
              <a:rPr lang="en-US" altLang="zh-CN" sz="2400" b="1" dirty="0" err="1">
                <a:solidFill>
                  <a:srgbClr val="FFFFFF"/>
                </a:solidFill>
                <a:latin typeface="Arial" panose="020B0604020202020204" pitchFamily="34" charset="0"/>
              </a:rPr>
              <a:t>Zhe</a:t>
            </a:r>
            <a:endParaRPr lang="en-US" altLang="zh-CN" sz="2400" b="1" dirty="0">
              <a:solidFill>
                <a:srgbClr val="FFFFFF"/>
              </a:solidFill>
              <a:latin typeface="Arial" panose="020B0604020202020204" pitchFamily="34" charset="0"/>
            </a:endParaRPr>
          </a:p>
          <a:p>
            <a:r>
              <a:rPr lang="en-US" altLang="zh-CN" sz="2400" b="1" dirty="0">
                <a:solidFill>
                  <a:srgbClr val="FFFFFF"/>
                </a:solidFill>
                <a:latin typeface="Arial" panose="020B0604020202020204" pitchFamily="34" charset="0"/>
              </a:rPr>
              <a:t>Email</a:t>
            </a:r>
            <a:r>
              <a:rPr lang="en-US" altLang="zh-CN" sz="2400" b="1" dirty="0">
                <a:latin typeface="Arial" panose="020B0604020202020204" pitchFamily="34" charset="0"/>
              </a:rPr>
              <a:t>: </a:t>
            </a:r>
            <a:r>
              <a:rPr lang="en-US" altLang="zh-CN" sz="2400" b="1" dirty="0">
                <a:latin typeface="Arial" panose="020B0604020202020204" pitchFamily="34" charset="0"/>
                <a:hlinkClick r:id="rId2"/>
              </a:rPr>
              <a:t>z1z2bz3@163.com</a:t>
            </a:r>
            <a:endParaRPr lang="en-US" altLang="zh-CN" sz="2400" b="1" dirty="0">
              <a:latin typeface="Arial" panose="020B0604020202020204" pitchFamily="34" charset="0"/>
            </a:endParaRPr>
          </a:p>
          <a:p>
            <a:r>
              <a:rPr lang="en-US" altLang="zh-CN" sz="2400" b="1" dirty="0">
                <a:solidFill>
                  <a:srgbClr val="FFFFFF"/>
                </a:solidFill>
                <a:latin typeface="Arial" panose="020B0604020202020204" pitchFamily="34" charset="0"/>
              </a:rPr>
              <a:t>Date: 2018</a:t>
            </a:r>
            <a:r>
              <a:rPr lang="zh-CN" altLang="en-US" sz="2400" b="1" dirty="0">
                <a:solidFill>
                  <a:srgbClr val="FFFFFF"/>
                </a:solidFill>
                <a:latin typeface="Arial" panose="020B0604020202020204" pitchFamily="34" charset="0"/>
              </a:rPr>
              <a:t>年</a:t>
            </a:r>
            <a:r>
              <a:rPr lang="en-US" altLang="zh-CN" sz="2400" b="1" dirty="0">
                <a:solidFill>
                  <a:srgbClr val="FFFFFF"/>
                </a:solidFill>
                <a:latin typeface="Arial" panose="020B0604020202020204" pitchFamily="34" charset="0"/>
              </a:rPr>
              <a:t>4</a:t>
            </a:r>
            <a:r>
              <a:rPr lang="zh-CN" altLang="en-US" sz="2400" b="1" dirty="0">
                <a:solidFill>
                  <a:srgbClr val="FFFFFF"/>
                </a:solidFill>
                <a:latin typeface="Arial" panose="020B0604020202020204" pitchFamily="34" charset="0"/>
              </a:rPr>
              <a:t>月</a:t>
            </a:r>
            <a:r>
              <a:rPr lang="en-US" altLang="zh-CN" sz="2400" b="1" dirty="0">
                <a:solidFill>
                  <a:srgbClr val="FFFFFF"/>
                </a:solidFill>
                <a:latin typeface="Arial" panose="020B0604020202020204" pitchFamily="34" charset="0"/>
              </a:rPr>
              <a:t>2</a:t>
            </a:r>
            <a:r>
              <a:rPr lang="zh-CN" altLang="en-US" sz="2400" b="1" dirty="0">
                <a:solidFill>
                  <a:srgbClr val="FFFFFF"/>
                </a:solidFill>
                <a:latin typeface="Arial" panose="020B0604020202020204" pitchFamily="34" charset="0"/>
              </a:rPr>
              <a:t>日</a:t>
            </a:r>
            <a:endParaRPr lang="zh-CN" altLang="en-US" sz="2400" dirty="0"/>
          </a:p>
        </p:txBody>
      </p:sp>
      <p:sp>
        <p:nvSpPr>
          <p:cNvPr id="3" name="文本框 2">
            <a:extLst>
              <a:ext uri="{FF2B5EF4-FFF2-40B4-BE49-F238E27FC236}">
                <a16:creationId xmlns:a16="http://schemas.microsoft.com/office/drawing/2014/main" id="{E65D83D4-7696-40E3-B420-8383172DB7BB}"/>
              </a:ext>
            </a:extLst>
          </p:cNvPr>
          <p:cNvSpPr txBox="1"/>
          <p:nvPr/>
        </p:nvSpPr>
        <p:spPr>
          <a:xfrm>
            <a:off x="1975757" y="1667506"/>
            <a:ext cx="7438753" cy="1569660"/>
          </a:xfrm>
          <a:prstGeom prst="rect">
            <a:avLst/>
          </a:prstGeom>
          <a:noFill/>
        </p:spPr>
        <p:txBody>
          <a:bodyPr wrap="square" rtlCol="0">
            <a:spAutoFit/>
          </a:bodyPr>
          <a:lstStyle/>
          <a:p>
            <a:r>
              <a:rPr lang="en-US" altLang="zh-CN" sz="4800" b="1" dirty="0">
                <a:solidFill>
                  <a:srgbClr val="ECC502"/>
                </a:solidFill>
                <a:latin typeface="Times New Roman" panose="02020603050405020304" pitchFamily="18" charset="0"/>
              </a:rPr>
              <a:t>Thanks for your attention! </a:t>
            </a:r>
          </a:p>
          <a:p>
            <a:r>
              <a:rPr lang="en-US" altLang="zh-CN" sz="4800" b="1" dirty="0">
                <a:solidFill>
                  <a:srgbClr val="ECC502"/>
                </a:solidFill>
                <a:latin typeface="Times New Roman" panose="02020603050405020304" pitchFamily="18" charset="0"/>
              </a:rPr>
              <a:t>See you next time!</a:t>
            </a:r>
          </a:p>
        </p:txBody>
      </p:sp>
      <p:sp>
        <p:nvSpPr>
          <p:cNvPr id="4" name="灯片编号占位符 3">
            <a:extLst>
              <a:ext uri="{FF2B5EF4-FFF2-40B4-BE49-F238E27FC236}">
                <a16:creationId xmlns:a16="http://schemas.microsoft.com/office/drawing/2014/main" id="{0780E354-9FAC-4B88-A990-5E9F9C107343}"/>
              </a:ext>
            </a:extLst>
          </p:cNvPr>
          <p:cNvSpPr>
            <a:spLocks noGrp="1"/>
          </p:cNvSpPr>
          <p:nvPr>
            <p:ph type="sldNum" sz="quarter" idx="12"/>
          </p:nvPr>
        </p:nvSpPr>
        <p:spPr/>
        <p:txBody>
          <a:bodyPr/>
          <a:lstStyle/>
          <a:p>
            <a:fld id="{53C4B9C9-2132-4B7A-9A0A-4FEC6FBD50BE}" type="slidenum">
              <a:rPr lang="zh-CN" altLang="en-US" smtClean="0"/>
              <a:t>16</a:t>
            </a:fld>
            <a:endParaRPr lang="zh-CN" altLang="en-US"/>
          </a:p>
        </p:txBody>
      </p:sp>
    </p:spTree>
    <p:extLst>
      <p:ext uri="{BB962C8B-B14F-4D97-AF65-F5344CB8AC3E}">
        <p14:creationId xmlns:p14="http://schemas.microsoft.com/office/powerpoint/2010/main" val="553374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4892040"/>
            <a:ext cx="12192000" cy="1965960"/>
          </a:xfrm>
          <a:prstGeom prst="rect">
            <a:avLst/>
          </a:prstGeom>
          <a:gradFill flip="none" rotWithShape="1">
            <a:gsLst>
              <a:gs pos="23000">
                <a:srgbClr val="939393">
                  <a:lumMod val="96000"/>
                </a:srgbClr>
              </a:gs>
              <a:gs pos="22281">
                <a:srgbClr val="939393"/>
              </a:gs>
              <a:gs pos="21562">
                <a:srgbClr val="939393"/>
              </a:gs>
              <a:gs pos="20125">
                <a:srgbClr val="939393"/>
              </a:gs>
              <a:gs pos="17250">
                <a:srgbClr val="939393"/>
              </a:gs>
              <a:gs pos="11500">
                <a:srgbClr val="939393"/>
              </a:gs>
              <a:gs pos="0">
                <a:schemeClr val="accent3">
                  <a:lumMod val="89000"/>
                </a:schemeClr>
              </a:gs>
              <a:gs pos="23000">
                <a:schemeClr val="accent3">
                  <a:lumMod val="89000"/>
                </a:schemeClr>
              </a:gs>
              <a:gs pos="69000">
                <a:schemeClr val="accent3">
                  <a:lumMod val="75000"/>
                </a:schemeClr>
              </a:gs>
              <a:gs pos="97000">
                <a:schemeClr val="accent3">
                  <a:lumMod val="7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4892039"/>
            <a:ext cx="12192000" cy="288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chemeClr val="tx1"/>
                </a:solidFill>
              </a:ln>
            </a:endParaRPr>
          </a:p>
        </p:txBody>
      </p:sp>
      <p:sp>
        <p:nvSpPr>
          <p:cNvPr id="2" name="灯片编号占位符 1">
            <a:extLst>
              <a:ext uri="{FF2B5EF4-FFF2-40B4-BE49-F238E27FC236}">
                <a16:creationId xmlns:a16="http://schemas.microsoft.com/office/drawing/2014/main" id="{2E23274A-F40F-4F6B-AC04-162CA1DCFCD3}"/>
              </a:ext>
            </a:extLst>
          </p:cNvPr>
          <p:cNvSpPr>
            <a:spLocks noGrp="1"/>
          </p:cNvSpPr>
          <p:nvPr>
            <p:ph type="sldNum" sz="quarter" idx="12"/>
          </p:nvPr>
        </p:nvSpPr>
        <p:spPr/>
        <p:txBody>
          <a:bodyPr/>
          <a:lstStyle/>
          <a:p>
            <a:fld id="{53C4B9C9-2132-4B7A-9A0A-4FEC6FBD50BE}" type="slidenum">
              <a:rPr lang="zh-CN" altLang="en-US" smtClean="0"/>
              <a:t>17</a:t>
            </a:fld>
            <a:endParaRPr lang="zh-CN" altLang="en-US"/>
          </a:p>
        </p:txBody>
      </p:sp>
    </p:spTree>
    <p:extLst>
      <p:ext uri="{BB962C8B-B14F-4D97-AF65-F5344CB8AC3E}">
        <p14:creationId xmlns:p14="http://schemas.microsoft.com/office/powerpoint/2010/main" val="3031196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197A847A-92C1-4500-AF28-2BC7F3BF54D0}"/>
              </a:ext>
            </a:extLst>
          </p:cNvPr>
          <p:cNvSpPr>
            <a:spLocks noGrp="1"/>
          </p:cNvSpPr>
          <p:nvPr>
            <p:ph type="sldNum" sz="quarter" idx="12"/>
          </p:nvPr>
        </p:nvSpPr>
        <p:spPr/>
        <p:txBody>
          <a:bodyPr/>
          <a:lstStyle/>
          <a:p>
            <a:fld id="{53C4B9C9-2132-4B7A-9A0A-4FEC6FBD50BE}" type="slidenum">
              <a:rPr lang="zh-CN" altLang="en-US" smtClean="0"/>
              <a:t>18</a:t>
            </a:fld>
            <a:endParaRPr lang="zh-CN" altLang="en-US"/>
          </a:p>
        </p:txBody>
      </p:sp>
    </p:spTree>
    <p:extLst>
      <p:ext uri="{BB962C8B-B14F-4D97-AF65-F5344CB8AC3E}">
        <p14:creationId xmlns:p14="http://schemas.microsoft.com/office/powerpoint/2010/main" val="2538483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F9AAD333-9F2D-4F75-800D-C8FAB06576EF}"/>
              </a:ext>
            </a:extLst>
          </p:cNvPr>
          <p:cNvSpPr/>
          <p:nvPr/>
        </p:nvSpPr>
        <p:spPr>
          <a:xfrm>
            <a:off x="0" y="1457999"/>
            <a:ext cx="12192000" cy="5400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A1D9674B-6D20-460D-960A-23C191EBF557}"/>
              </a:ext>
            </a:extLst>
          </p:cNvPr>
          <p:cNvSpPr/>
          <p:nvPr/>
        </p:nvSpPr>
        <p:spPr>
          <a:xfrm flipV="1">
            <a:off x="0" y="1429198"/>
            <a:ext cx="12192000" cy="36000"/>
          </a:xfrm>
          <a:prstGeom prst="rect">
            <a:avLst/>
          </a:prstGeom>
          <a:solidFill>
            <a:schemeClr val="tx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灯片编号占位符 1">
            <a:extLst>
              <a:ext uri="{FF2B5EF4-FFF2-40B4-BE49-F238E27FC236}">
                <a16:creationId xmlns:a16="http://schemas.microsoft.com/office/drawing/2014/main" id="{6BE94077-66B0-4699-B437-B4BE6AA55ADD}"/>
              </a:ext>
            </a:extLst>
          </p:cNvPr>
          <p:cNvSpPr>
            <a:spLocks noGrp="1"/>
          </p:cNvSpPr>
          <p:nvPr>
            <p:ph type="sldNum" sz="quarter" idx="12"/>
          </p:nvPr>
        </p:nvSpPr>
        <p:spPr/>
        <p:txBody>
          <a:bodyPr/>
          <a:lstStyle/>
          <a:p>
            <a:fld id="{53C4B9C9-2132-4B7A-9A0A-4FEC6FBD50BE}" type="slidenum">
              <a:rPr lang="zh-CN" altLang="en-US" smtClean="0"/>
              <a:t>19</a:t>
            </a:fld>
            <a:endParaRPr lang="zh-CN" altLang="en-US"/>
          </a:p>
        </p:txBody>
      </p:sp>
    </p:spTree>
    <p:extLst>
      <p:ext uri="{BB962C8B-B14F-4D97-AF65-F5344CB8AC3E}">
        <p14:creationId xmlns:p14="http://schemas.microsoft.com/office/powerpoint/2010/main" val="1660377560"/>
      </p:ext>
    </p:extLst>
  </p:cSld>
  <p:clrMapOvr>
    <a:masterClrMapping/>
  </p:clrMapOvr>
</p:sld>
</file>

<file path=ppt/theme/theme1.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965</TotalTime>
  <Words>1093</Words>
  <Application>Microsoft Office PowerPoint</Application>
  <PresentationFormat>宽屏</PresentationFormat>
  <Paragraphs>125</Paragraphs>
  <Slides>19</Slides>
  <Notes>11</Notes>
  <HiddenSlides>3</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19</vt:i4>
      </vt:variant>
    </vt:vector>
  </HeadingPairs>
  <TitlesOfParts>
    <vt:vector size="27" baseType="lpstr">
      <vt:lpstr>等线</vt:lpstr>
      <vt:lpstr>黑体</vt:lpstr>
      <vt:lpstr>微软雅黑</vt:lpstr>
      <vt:lpstr>Arial</vt:lpstr>
      <vt:lpstr>Arial Black</vt:lpstr>
      <vt:lpstr>Times New Roman</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王哲</dc:creator>
  <cp:lastModifiedBy>王哲</cp:lastModifiedBy>
  <cp:revision>51</cp:revision>
  <dcterms:created xsi:type="dcterms:W3CDTF">2018-03-30T00:29:30Z</dcterms:created>
  <dcterms:modified xsi:type="dcterms:W3CDTF">2018-04-02T03:43:16Z</dcterms:modified>
</cp:coreProperties>
</file>