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4" r:id="rId2"/>
    <p:sldId id="272" r:id="rId3"/>
    <p:sldId id="262" r:id="rId4"/>
    <p:sldId id="263" r:id="rId5"/>
    <p:sldId id="283" r:id="rId6"/>
    <p:sldId id="286" r:id="rId7"/>
    <p:sldId id="287" r:id="rId8"/>
    <p:sldId id="288" r:id="rId9"/>
    <p:sldId id="290" r:id="rId10"/>
    <p:sldId id="284" r:id="rId11"/>
    <p:sldId id="28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FCD0335-C604-49BF-8E01-DBC528DCF1DB}">
          <p14:sldIdLst/>
        </p14:section>
        <p14:section name="内容" id="{4F1D2383-6575-42DE-A610-E75A1CFC0272}">
          <p14:sldIdLst>
            <p14:sldId id="264"/>
            <p14:sldId id="272"/>
            <p14:sldId id="262"/>
            <p14:sldId id="263"/>
            <p14:sldId id="283"/>
            <p14:sldId id="286"/>
            <p14:sldId id="287"/>
            <p14:sldId id="288"/>
            <p14:sldId id="290"/>
            <p14:sldId id="284"/>
            <p14:sldId id="289"/>
          </p14:sldIdLst>
        </p14:section>
        <p14:section name="致谢" id="{1C19C842-8FF7-43C5-8379-E1D4AD595D4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35" autoAdjust="0"/>
    <p:restoredTop sz="94660"/>
  </p:normalViewPr>
  <p:slideViewPr>
    <p:cSldViewPr snapToGrid="0">
      <p:cViewPr varScale="1">
        <p:scale>
          <a:sx n="50" d="100"/>
          <a:sy n="50" d="100"/>
        </p:scale>
        <p:origin x="701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4E3BB-5671-45F2-B1E5-64A2B513485E}" type="datetimeFigureOut">
              <a:rPr lang="zh-CN" altLang="en-US" smtClean="0"/>
              <a:t>2018/5/9 Wednesday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2B5B4-B513-4BDB-98EE-9A3B40B7F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02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/>
              <a:t>蛋白质折叠问题可以被看作是三个不同的问题：</a:t>
            </a:r>
            <a:endParaRPr lang="en-US" altLang="zh-CN" sz="1200" b="1" dirty="0"/>
          </a:p>
          <a:p>
            <a:r>
              <a:rPr lang="zh-CN" altLang="en-US" sz="1200" b="1" dirty="0"/>
              <a:t>定义热力学折叠代码</a:t>
            </a:r>
            <a:r>
              <a:rPr lang="en-US" altLang="zh-CN" sz="1200" b="1" dirty="0"/>
              <a:t>; </a:t>
            </a:r>
          </a:p>
          <a:p>
            <a:r>
              <a:rPr lang="zh-CN" altLang="en-US" sz="1200" b="1" dirty="0"/>
              <a:t>设计一个好的计算结构预测算法</a:t>
            </a:r>
            <a:r>
              <a:rPr lang="en-US" altLang="zh-CN" sz="1200" b="1" dirty="0"/>
              <a:t>; </a:t>
            </a:r>
          </a:p>
          <a:p>
            <a:r>
              <a:rPr lang="zh-CN" altLang="en-US" sz="1200" b="1" dirty="0"/>
              <a:t>回答</a:t>
            </a:r>
            <a:r>
              <a:rPr lang="en-US" altLang="zh-CN" sz="1200" b="1" dirty="0"/>
              <a:t>Levinthal</a:t>
            </a:r>
            <a:r>
              <a:rPr lang="zh-CN" altLang="en-US" sz="1200" b="1" dirty="0"/>
              <a:t>有关蛋白质如何快速折叠的动力学机制的问题。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D2B5B4-B513-4BDB-98EE-9A3B40B7F51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245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D2B5B4-B513-4BDB-98EE-9A3B40B7F51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360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0061A1-67A8-4DE3-A282-292EDED24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9E10C-E785-4890-BFD4-429B76517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839116-43EC-4F3E-8C23-9E4BD81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F161B6-FC86-49D5-9FC3-B3A355C6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FC9867-E620-4F90-85F8-4874B544F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F79F1-BCD6-4583-B0E9-78BDFDEC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569026-2293-46DA-8128-4B0E2522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A04063-713C-40DD-A83B-33F457E73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1F84FC-3997-4B36-AD48-C2EACAB2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10030B-0A78-49C8-94E7-304B47DA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98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61A75-1676-4604-BE02-8CCE3C76E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75B235-012C-4306-82B7-64B450455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9DA4B9-AF8B-4F89-B9C3-12E9112C5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CEF73B-5045-4C74-AE79-770EBA50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030C1B-92CB-4FB4-B8A3-F77119E5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37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D8EC5-C081-4A61-AB31-335E6F71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5E1292-E445-409A-A8BE-E1E082B41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060231-8E2B-4E99-B736-9731184E8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68B7D6-5E0B-4377-B423-0982B9873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2B6067-E2F3-4132-ACB4-D337E24D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839D06-9668-45A4-9AB8-6E0C6541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86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F3DD9-7FD3-491A-8B0C-6A99D0DE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E7A53C-F2F4-47A9-A602-CB84152C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10B04C-8ADF-44D6-B0EB-9C45476D1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2F4D4E-E7E7-4109-AC62-DB5C5C486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45DCF4-C0B0-4A31-B79D-A67E5BC4D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DD5686-C73F-4AD9-BA13-DF646080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610F61-BF1F-4FA9-8914-D9658E987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0F9C0E-F2C4-406C-8F24-91A7ADEF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121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A2B75-DEA1-4028-AE13-6C8473B3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0DD72E-9AF1-4D99-9467-90EDE72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4AF396-7EFA-425A-8C2D-16836940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540710-0638-4020-BCD6-624E8D9D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3AE413-162A-497D-A4FF-D5E42E837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F8594C-A91D-4E9F-AB74-4BFD60DB2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7E9D2F-966E-4512-972A-A11F2EBA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7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392AB-7FCC-4440-A9E0-A27BB14B7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A3749-FCA5-4FDF-83BD-ABABC5524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801F5-E9D9-4645-B9DC-A3DE8126B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6F9E49-F1D1-4684-AD57-08B2FABF9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EEB1CF-34BB-4F7B-AA70-6BAFC45BD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9EA2E-4B8E-477F-8AEB-1E140199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9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E12973-A8C8-4F8A-8CEF-591241A2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C44289-39CE-436F-A173-D91674EB3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2CA1A0-578D-47E9-826F-17ED0A06E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C6E302-313D-407F-BA77-371F53709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96B7C7-617D-4A32-8DC2-8F5667219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391EA2-73A4-4CD8-9B00-94253712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49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FA1461-60F4-452D-A1B0-C8278BE6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A4CCFA-768A-4860-8FFC-AB3F69FAC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027403-8ADB-4F6D-A5FC-611EA55C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4AD94B-B03B-4349-8E95-5CE806BE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4A7EC1-0577-4EF0-A581-FA0A3B74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19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D3082E-8011-4AA7-9F37-1E6416EC9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A7E966-E10A-4EFB-B2ED-A1BC45EE8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5C949-5924-4C90-ACE9-1ACCDC70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38841E-52A3-444E-8B53-40FFC22E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27EFCF-3EC7-47AC-A539-8A42B4E4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034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" b="10333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2263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F7EA849-8B50-4EBA-8696-12F954297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642B1E-B21C-450E-AF48-F4E04C53F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210404-41A1-41CA-B7F5-D8B50FF0F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FC5960-BFC5-46D0-9BE7-940C67539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A2605F-63B8-4835-9EDF-89FD022DA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 u="none">
                <a:solidFill>
                  <a:schemeClr val="tx1"/>
                </a:solidFill>
              </a:defRPr>
            </a:lvl1pPr>
          </a:lstStyle>
          <a:p>
            <a:fld id="{B097C6C6-4A3F-40B7-8E12-408FC0D4F1C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6307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出自【趣你的PPT】(微信:qunideppt)：最优质的PPT资源库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29"/>
          <a:stretch>
            <a:fillRect/>
          </a:stretch>
        </p:blipFill>
        <p:spPr>
          <a:xfrm>
            <a:off x="119744" y="0"/>
            <a:ext cx="6119019" cy="2648339"/>
          </a:xfrm>
          <a:custGeom>
            <a:avLst/>
            <a:gdLst>
              <a:gd name="connsiteX0" fmla="*/ 0 w 6119019"/>
              <a:gd name="connsiteY0" fmla="*/ 0 h 2648339"/>
              <a:gd name="connsiteX1" fmla="*/ 6119019 w 6119019"/>
              <a:gd name="connsiteY1" fmla="*/ 0 h 2648339"/>
              <a:gd name="connsiteX2" fmla="*/ 6119019 w 6119019"/>
              <a:gd name="connsiteY2" fmla="*/ 2648339 h 2648339"/>
              <a:gd name="connsiteX3" fmla="*/ 0 w 6119019"/>
              <a:gd name="connsiteY3" fmla="*/ 2648339 h 2648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9019" h="2648339">
                <a:moveTo>
                  <a:pt x="0" y="0"/>
                </a:moveTo>
                <a:lnTo>
                  <a:pt x="6119019" y="0"/>
                </a:lnTo>
                <a:lnTo>
                  <a:pt x="6119019" y="2648339"/>
                </a:lnTo>
                <a:lnTo>
                  <a:pt x="0" y="2648339"/>
                </a:lnTo>
                <a:close/>
              </a:path>
            </a:pathLst>
          </a:custGeom>
        </p:spPr>
      </p:pic>
      <p:sp>
        <p:nvSpPr>
          <p:cNvPr id="9" name="出自【趣你的PPT】(微信:qunideppt)：最优质的PPT资源库"/>
          <p:cNvSpPr txBox="1"/>
          <p:nvPr/>
        </p:nvSpPr>
        <p:spPr>
          <a:xfrm>
            <a:off x="1960880" y="1686560"/>
            <a:ext cx="106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</a:t>
            </a:r>
          </a:p>
        </p:txBody>
      </p:sp>
      <p:sp>
        <p:nvSpPr>
          <p:cNvPr id="10" name="出自【趣你的PPT】(微信:qunideppt)：最优质的PPT资源库"/>
          <p:cNvSpPr txBox="1"/>
          <p:nvPr/>
        </p:nvSpPr>
        <p:spPr>
          <a:xfrm>
            <a:off x="2580640" y="2448560"/>
            <a:ext cx="106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录</a:t>
            </a:r>
          </a:p>
        </p:txBody>
      </p:sp>
      <p:sp>
        <p:nvSpPr>
          <p:cNvPr id="11" name="出自【趣你的PPT】(微信:qunideppt)：最优质的PPT资源库"/>
          <p:cNvSpPr txBox="1"/>
          <p:nvPr/>
        </p:nvSpPr>
        <p:spPr>
          <a:xfrm>
            <a:off x="1472112" y="1640393"/>
            <a:ext cx="66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b="1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C</a:t>
            </a:r>
            <a:endParaRPr lang="zh-CN" altLang="en-US" sz="7200" b="1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12" name="出自【趣你的PPT】(微信:qunideppt)：最优质的PPT资源库"/>
          <p:cNvSpPr txBox="1"/>
          <p:nvPr/>
        </p:nvSpPr>
        <p:spPr>
          <a:xfrm>
            <a:off x="2783709" y="2142041"/>
            <a:ext cx="1686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dirty="0"/>
              <a:t>ontents</a:t>
            </a:r>
            <a:endParaRPr lang="zh-CN" altLang="en-US" sz="2400" dirty="0"/>
          </a:p>
        </p:txBody>
      </p:sp>
      <p:pic>
        <p:nvPicPr>
          <p:cNvPr id="21" name="出自【趣你的PPT】(微信:qunideppt)：最优质的PPT资源库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35" b="66235"/>
          <a:stretch>
            <a:fillRect/>
          </a:stretch>
        </p:blipFill>
        <p:spPr>
          <a:xfrm>
            <a:off x="9856652" y="4757471"/>
            <a:ext cx="2335348" cy="2100529"/>
          </a:xfrm>
          <a:custGeom>
            <a:avLst/>
            <a:gdLst>
              <a:gd name="connsiteX0" fmla="*/ 0 w 2335348"/>
              <a:gd name="connsiteY0" fmla="*/ 0 h 2100529"/>
              <a:gd name="connsiteX1" fmla="*/ 2335348 w 2335348"/>
              <a:gd name="connsiteY1" fmla="*/ 0 h 2100529"/>
              <a:gd name="connsiteX2" fmla="*/ 2335348 w 2335348"/>
              <a:gd name="connsiteY2" fmla="*/ 2100529 h 2100529"/>
              <a:gd name="connsiteX3" fmla="*/ 0 w 2335348"/>
              <a:gd name="connsiteY3" fmla="*/ 2100529 h 2100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5348" h="2100529">
                <a:moveTo>
                  <a:pt x="0" y="0"/>
                </a:moveTo>
                <a:lnTo>
                  <a:pt x="2335348" y="0"/>
                </a:lnTo>
                <a:lnTo>
                  <a:pt x="2335348" y="2100529"/>
                </a:lnTo>
                <a:lnTo>
                  <a:pt x="0" y="2100529"/>
                </a:lnTo>
                <a:close/>
              </a:path>
            </a:pathLst>
          </a:custGeom>
        </p:spPr>
      </p:pic>
      <p:sp>
        <p:nvSpPr>
          <p:cNvPr id="13" name="出自【趣你的PPT】(微信:qunideppt)：最优质的PPT资源库"/>
          <p:cNvSpPr txBox="1">
            <a:spLocks noChangeArrowheads="1"/>
          </p:cNvSpPr>
          <p:nvPr/>
        </p:nvSpPr>
        <p:spPr bwMode="auto">
          <a:xfrm>
            <a:off x="6153947" y="4097009"/>
            <a:ext cx="585517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Conformational Diversity and the Evolution of New Folds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出自【趣你的PPT】(微信:qunideppt)：最优质的PPT资源库"/>
          <p:cNvSpPr txBox="1">
            <a:spLocks noChangeArrowheads="1"/>
          </p:cNvSpPr>
          <p:nvPr/>
        </p:nvSpPr>
        <p:spPr bwMode="auto">
          <a:xfrm>
            <a:off x="6153947" y="3234941"/>
            <a:ext cx="603805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Local, Active-Site Flexibility Mediates Promiscuity and Evolvability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出自【趣你的PPT】(微信:qunideppt)：最优质的PPT资源库"/>
          <p:cNvSpPr txBox="1">
            <a:spLocks noChangeArrowheads="1"/>
          </p:cNvSpPr>
          <p:nvPr/>
        </p:nvSpPr>
        <p:spPr bwMode="auto">
          <a:xfrm>
            <a:off x="6153947" y="2372873"/>
            <a:ext cx="15215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Abstract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出自【趣你的PPT】(微信:qunideppt)：最优质的PPT资源库"/>
          <p:cNvSpPr txBox="1"/>
          <p:nvPr/>
        </p:nvSpPr>
        <p:spPr>
          <a:xfrm>
            <a:off x="5269550" y="2372873"/>
            <a:ext cx="8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01</a:t>
            </a:r>
            <a:endParaRPr lang="zh-CN" altLang="en-US" sz="3200" dirty="0"/>
          </a:p>
        </p:txBody>
      </p:sp>
      <p:sp>
        <p:nvSpPr>
          <p:cNvPr id="24" name="出自【趣你的PPT】(微信:qunideppt)：最优质的PPT资源库"/>
          <p:cNvSpPr txBox="1"/>
          <p:nvPr/>
        </p:nvSpPr>
        <p:spPr>
          <a:xfrm>
            <a:off x="5269550" y="3234941"/>
            <a:ext cx="8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02</a:t>
            </a:r>
            <a:endParaRPr lang="zh-CN" altLang="en-US" sz="3200" dirty="0"/>
          </a:p>
        </p:txBody>
      </p:sp>
      <p:sp>
        <p:nvSpPr>
          <p:cNvPr id="25" name="出自【趣你的PPT】(微信:qunideppt)：最优质的PPT资源库"/>
          <p:cNvSpPr txBox="1"/>
          <p:nvPr/>
        </p:nvSpPr>
        <p:spPr>
          <a:xfrm>
            <a:off x="5269550" y="4097009"/>
            <a:ext cx="8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03</a:t>
            </a:r>
            <a:endParaRPr lang="zh-CN" altLang="en-US" sz="32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9629FA-249B-46C6-9B30-118C08B8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16" name="出自【趣你的PPT】(微信:qunideppt)：最优质的PPT资源库">
            <a:extLst>
              <a:ext uri="{FF2B5EF4-FFF2-40B4-BE49-F238E27FC236}">
                <a16:creationId xmlns:a16="http://schemas.microsoft.com/office/drawing/2014/main" id="{F015F696-9075-41D9-9215-244F7B48CE4C}"/>
              </a:ext>
            </a:extLst>
          </p:cNvPr>
          <p:cNvSpPr txBox="1"/>
          <p:nvPr/>
        </p:nvSpPr>
        <p:spPr>
          <a:xfrm>
            <a:off x="5262880" y="5222960"/>
            <a:ext cx="83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04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85518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3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1738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/>
              <a:t>Introduction</a:t>
            </a:r>
            <a:endParaRPr lang="zh-CN" altLang="en-US" sz="4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A844F3B-4756-4416-9776-34701CD4A648}"/>
              </a:ext>
            </a:extLst>
          </p:cNvPr>
          <p:cNvSpPr txBox="1"/>
          <p:nvPr/>
        </p:nvSpPr>
        <p:spPr>
          <a:xfrm>
            <a:off x="1343025" y="1514475"/>
            <a:ext cx="86153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蛋白质的氨基酸序列决定了它的结构，这决定了它的作用机制。</a:t>
            </a:r>
            <a:endParaRPr lang="en-US" altLang="zh-CN" sz="2800" dirty="0"/>
          </a:p>
          <a:p>
            <a:r>
              <a:rPr lang="zh-CN" altLang="en-US" sz="2800" dirty="0"/>
              <a:t>作者认为蛋白质折叠问题</a:t>
            </a:r>
            <a:r>
              <a:rPr lang="en-US" altLang="zh-CN" sz="2800" dirty="0"/>
              <a:t>,</a:t>
            </a:r>
            <a:r>
              <a:rPr lang="zh-CN" altLang="en-US" sz="2800" dirty="0"/>
              <a:t>理论和实验都取得了巨大进展，原则的核心问题，甚至实施和实践的关键问题已经解决。</a:t>
            </a:r>
            <a:endParaRPr lang="en-US" altLang="zh-CN" sz="2800" dirty="0"/>
          </a:p>
          <a:p>
            <a:r>
              <a:rPr lang="zh-CN" altLang="en-US" sz="2800" dirty="0"/>
              <a:t>作者总结了进展，问题和新的方向。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EF8430-14EF-4D80-87B2-E4789C85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987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2339581-6CEC-479B-8A47-7CA9A1C9E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9" y="-23088"/>
            <a:ext cx="4071936" cy="68007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564B83C-F69C-4808-8692-77AF07E5B905}"/>
              </a:ext>
            </a:extLst>
          </p:cNvPr>
          <p:cNvSpPr txBox="1"/>
          <p:nvPr/>
        </p:nvSpPr>
        <p:spPr>
          <a:xfrm>
            <a:off x="4943475" y="302359"/>
            <a:ext cx="694848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一级结构也就是氨基酸序列，</a:t>
            </a:r>
            <a:endParaRPr lang="en-US" altLang="zh-CN" sz="2800" dirty="0"/>
          </a:p>
          <a:p>
            <a:r>
              <a:rPr lang="zh-CN" altLang="en-US" sz="2800" dirty="0"/>
              <a:t>二级结构是周期性的结构构象，比如</a:t>
            </a:r>
            <a:r>
              <a:rPr lang="en-US" altLang="zh-CN" sz="2800" dirty="0"/>
              <a:t>α</a:t>
            </a:r>
            <a:r>
              <a:rPr lang="zh-CN" altLang="en-US" sz="2800" dirty="0"/>
              <a:t>螺旋</a:t>
            </a:r>
            <a:r>
              <a:rPr lang="en-US" altLang="zh-CN" sz="2800" dirty="0"/>
              <a:t>β</a:t>
            </a:r>
            <a:r>
              <a:rPr lang="zh-CN" altLang="en-US" sz="2800" dirty="0"/>
              <a:t>折叠等。</a:t>
            </a:r>
            <a:endParaRPr lang="en-US" altLang="zh-CN" sz="2800" dirty="0"/>
          </a:p>
          <a:p>
            <a:r>
              <a:rPr lang="zh-CN" altLang="en-US" sz="2800" dirty="0"/>
              <a:t>三级结构是整条多肽链的三维空间结构。</a:t>
            </a:r>
            <a:endParaRPr lang="en-US" altLang="zh-CN" sz="2800" dirty="0"/>
          </a:p>
          <a:p>
            <a:r>
              <a:rPr lang="zh-CN" altLang="en-US" sz="2800" dirty="0"/>
              <a:t>四级结构是几个蛋白质分子形成的复合体结构，比如三聚体，四聚体等。</a:t>
            </a:r>
            <a:endParaRPr lang="en-US" altLang="zh-CN" sz="2800" dirty="0"/>
          </a:p>
          <a:p>
            <a:r>
              <a:rPr lang="zh-CN" altLang="en-US" sz="2800" dirty="0"/>
              <a:t>蛋白质是由氨基酸组成的，前一个氨基酸的羧基和后一个氨基酸的氨基脱去一分子的水，缩合形成的肽键。肽键将氨基酸连接起来形成肽链。 </a:t>
            </a:r>
            <a:endParaRPr lang="en-US" altLang="zh-CN" sz="2800" dirty="0"/>
          </a:p>
          <a:p>
            <a:r>
              <a:rPr lang="zh-CN" altLang="en-US" sz="2800" dirty="0"/>
              <a:t>发掘蛋白质的结构特征是理解蛋白质生物功能的基础，这对于整个生物医药领域的研究都非常重要。</a:t>
            </a:r>
            <a:endParaRPr lang="en-US" altLang="zh-CN" sz="2800" dirty="0"/>
          </a:p>
          <a:p>
            <a:r>
              <a:rPr lang="zh-CN" altLang="en-US" sz="2800" dirty="0"/>
              <a:t>拥有了空间立体结构之后，蛋白质才能发挥功能。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524A6B-1425-4D75-B417-60329359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253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7C05B2B-3CCE-4E27-9673-384BE22212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816"/>
          <a:stretch/>
        </p:blipFill>
        <p:spPr>
          <a:xfrm>
            <a:off x="185738" y="114300"/>
            <a:ext cx="8429626" cy="66293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1CB6E6A-B0E4-4707-9B36-B10336EE9516}"/>
              </a:ext>
            </a:extLst>
          </p:cNvPr>
          <p:cNvSpPr txBox="1"/>
          <p:nvPr/>
        </p:nvSpPr>
        <p:spPr>
          <a:xfrm>
            <a:off x="8615364" y="935415"/>
            <a:ext cx="339089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以字母形式书写的二级结构序列能够更加精准的描述。</a:t>
            </a:r>
            <a:endParaRPr lang="en-US" altLang="zh-CN" sz="3200" dirty="0"/>
          </a:p>
          <a:p>
            <a:r>
              <a:rPr lang="zh-CN" altLang="en-US" sz="3200" dirty="0"/>
              <a:t>其中，</a:t>
            </a:r>
            <a:r>
              <a:rPr lang="en-US" altLang="zh-CN" sz="3200" dirty="0"/>
              <a:t>E </a:t>
            </a:r>
            <a:r>
              <a:rPr lang="zh-CN" altLang="en-US" sz="3200" dirty="0"/>
              <a:t>代表</a:t>
            </a:r>
            <a:r>
              <a:rPr lang="en-US" altLang="zh-CN" sz="3200" dirty="0"/>
              <a:t>β</a:t>
            </a:r>
            <a:r>
              <a:rPr lang="zh-CN" altLang="en-US" sz="3200" dirty="0"/>
              <a:t>折叠，</a:t>
            </a:r>
            <a:r>
              <a:rPr lang="en-US" altLang="zh-CN" sz="3200" dirty="0"/>
              <a:t>H </a:t>
            </a:r>
            <a:r>
              <a:rPr lang="zh-CN" altLang="en-US" sz="3200" dirty="0"/>
              <a:t>代表</a:t>
            </a:r>
            <a:r>
              <a:rPr lang="en-US" altLang="zh-CN" sz="3200" dirty="0"/>
              <a:t>α</a:t>
            </a:r>
            <a:r>
              <a:rPr lang="zh-CN" altLang="en-US" sz="3200" dirty="0"/>
              <a:t>螺旋，</a:t>
            </a:r>
            <a:r>
              <a:rPr lang="en-US" altLang="zh-CN" sz="3200" dirty="0"/>
              <a:t>T </a:t>
            </a:r>
            <a:r>
              <a:rPr lang="zh-CN" altLang="en-US" sz="3200" dirty="0"/>
              <a:t>代表转角。</a:t>
            </a:r>
            <a:endParaRPr lang="en-US" altLang="zh-CN" sz="3200" dirty="0"/>
          </a:p>
          <a:p>
            <a:r>
              <a:rPr lang="zh-CN" altLang="en-US" sz="3200" dirty="0"/>
              <a:t>没有写任何字母的地方是松散的 </a:t>
            </a:r>
            <a:r>
              <a:rPr lang="en-US" altLang="zh-CN" sz="3200" dirty="0"/>
              <a:t>coil </a:t>
            </a:r>
            <a:r>
              <a:rPr lang="zh-CN" altLang="en-US" sz="3200" dirty="0"/>
              <a:t>结构。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BAFD22-BF4E-418F-BC68-A76FE834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125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F20FE63-4A88-4C34-B293-F0734625D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75" y="571857"/>
            <a:ext cx="4190476" cy="571428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9FC604D-5EE9-4B29-8F54-FB17383B097B}"/>
              </a:ext>
            </a:extLst>
          </p:cNvPr>
          <p:cNvSpPr txBox="1"/>
          <p:nvPr/>
        </p:nvSpPr>
        <p:spPr>
          <a:xfrm>
            <a:off x="5529263" y="1485900"/>
            <a:ext cx="58621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氨基酸组成可以被分析来预测二级，三级和四级蛋白质结构。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1E20A4F-5E3B-46B5-A586-08354932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669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出自【趣你的PPT】(微信:qunideppt)：最优质的PPT资源库"/>
          <p:cNvSpPr>
            <a:spLocks/>
          </p:cNvSpPr>
          <p:nvPr/>
        </p:nvSpPr>
        <p:spPr bwMode="auto">
          <a:xfrm>
            <a:off x="9995735" y="3993503"/>
            <a:ext cx="1119305" cy="2048350"/>
          </a:xfrm>
          <a:custGeom>
            <a:avLst/>
            <a:gdLst/>
            <a:ahLst/>
            <a:cxnLst>
              <a:cxn ang="0">
                <a:pos x="317" y="728"/>
              </a:cxn>
              <a:cxn ang="0">
                <a:pos x="300" y="323"/>
              </a:cxn>
              <a:cxn ang="0">
                <a:pos x="393" y="116"/>
              </a:cxn>
              <a:cxn ang="0">
                <a:pos x="348" y="125"/>
              </a:cxn>
              <a:cxn ang="0">
                <a:pos x="264" y="184"/>
              </a:cxn>
              <a:cxn ang="0">
                <a:pos x="196" y="15"/>
              </a:cxn>
              <a:cxn ang="0">
                <a:pos x="187" y="126"/>
              </a:cxn>
              <a:cxn ang="0">
                <a:pos x="117" y="81"/>
              </a:cxn>
              <a:cxn ang="0">
                <a:pos x="65" y="40"/>
              </a:cxn>
              <a:cxn ang="0">
                <a:pos x="126" y="182"/>
              </a:cxn>
              <a:cxn ang="0">
                <a:pos x="24" y="86"/>
              </a:cxn>
              <a:cxn ang="0">
                <a:pos x="21" y="129"/>
              </a:cxn>
              <a:cxn ang="0">
                <a:pos x="104" y="227"/>
              </a:cxn>
              <a:cxn ang="0">
                <a:pos x="24" y="184"/>
              </a:cxn>
              <a:cxn ang="0">
                <a:pos x="48" y="238"/>
              </a:cxn>
              <a:cxn ang="0">
                <a:pos x="173" y="392"/>
              </a:cxn>
              <a:cxn ang="0">
                <a:pos x="152" y="728"/>
              </a:cxn>
              <a:cxn ang="0">
                <a:pos x="317" y="728"/>
              </a:cxn>
            </a:cxnLst>
            <a:rect l="0" t="0" r="r" b="b"/>
            <a:pathLst>
              <a:path w="398" h="728">
                <a:moveTo>
                  <a:pt x="317" y="728"/>
                </a:moveTo>
                <a:cubicBezTo>
                  <a:pt x="317" y="728"/>
                  <a:pt x="261" y="475"/>
                  <a:pt x="300" y="323"/>
                </a:cubicBezTo>
                <a:cubicBezTo>
                  <a:pt x="339" y="171"/>
                  <a:pt x="398" y="140"/>
                  <a:pt x="393" y="116"/>
                </a:cubicBezTo>
                <a:cubicBezTo>
                  <a:pt x="387" y="93"/>
                  <a:pt x="358" y="103"/>
                  <a:pt x="348" y="125"/>
                </a:cubicBezTo>
                <a:cubicBezTo>
                  <a:pt x="338" y="146"/>
                  <a:pt x="299" y="192"/>
                  <a:pt x="264" y="184"/>
                </a:cubicBezTo>
                <a:cubicBezTo>
                  <a:pt x="228" y="176"/>
                  <a:pt x="221" y="30"/>
                  <a:pt x="196" y="15"/>
                </a:cubicBezTo>
                <a:cubicBezTo>
                  <a:pt x="170" y="0"/>
                  <a:pt x="178" y="68"/>
                  <a:pt x="187" y="126"/>
                </a:cubicBezTo>
                <a:cubicBezTo>
                  <a:pt x="196" y="184"/>
                  <a:pt x="147" y="151"/>
                  <a:pt x="117" y="81"/>
                </a:cubicBezTo>
                <a:cubicBezTo>
                  <a:pt x="87" y="10"/>
                  <a:pt x="69" y="31"/>
                  <a:pt x="65" y="40"/>
                </a:cubicBezTo>
                <a:cubicBezTo>
                  <a:pt x="62" y="50"/>
                  <a:pt x="131" y="176"/>
                  <a:pt x="126" y="182"/>
                </a:cubicBezTo>
                <a:cubicBezTo>
                  <a:pt x="120" y="188"/>
                  <a:pt x="33" y="83"/>
                  <a:pt x="24" y="86"/>
                </a:cubicBezTo>
                <a:cubicBezTo>
                  <a:pt x="15" y="89"/>
                  <a:pt x="0" y="96"/>
                  <a:pt x="21" y="129"/>
                </a:cubicBezTo>
                <a:cubicBezTo>
                  <a:pt x="42" y="162"/>
                  <a:pt x="108" y="218"/>
                  <a:pt x="104" y="227"/>
                </a:cubicBezTo>
                <a:cubicBezTo>
                  <a:pt x="99" y="236"/>
                  <a:pt x="45" y="185"/>
                  <a:pt x="24" y="184"/>
                </a:cubicBezTo>
                <a:cubicBezTo>
                  <a:pt x="4" y="182"/>
                  <a:pt x="12" y="211"/>
                  <a:pt x="48" y="238"/>
                </a:cubicBezTo>
                <a:cubicBezTo>
                  <a:pt x="84" y="264"/>
                  <a:pt x="172" y="294"/>
                  <a:pt x="173" y="392"/>
                </a:cubicBezTo>
                <a:cubicBezTo>
                  <a:pt x="174" y="491"/>
                  <a:pt x="152" y="728"/>
                  <a:pt x="152" y="728"/>
                </a:cubicBezTo>
                <a:lnTo>
                  <a:pt x="317" y="72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sz="1500"/>
          </a:p>
        </p:txBody>
      </p:sp>
      <p:grpSp>
        <p:nvGrpSpPr>
          <p:cNvPr id="23" name="Group 2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2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4389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/>
              <a:t>Three problems of protein folding</a:t>
            </a:r>
            <a:endParaRPr lang="zh-CN" altLang="en-US" sz="4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8663C0-FB79-4DA7-9B12-28440BCAB1E6}"/>
              </a:ext>
            </a:extLst>
          </p:cNvPr>
          <p:cNvSpPr txBox="1"/>
          <p:nvPr/>
        </p:nvSpPr>
        <p:spPr>
          <a:xfrm>
            <a:off x="1076960" y="1267001"/>
            <a:ext cx="878332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蛋白质折叠问题是三个不同的问题：</a:t>
            </a:r>
            <a:endParaRPr lang="en-US" altLang="zh-CN" sz="3200" b="1" dirty="0"/>
          </a:p>
          <a:p>
            <a:r>
              <a:rPr lang="zh-CN" altLang="en-US" sz="3200" b="1" dirty="0"/>
              <a:t>折叠代码 </a:t>
            </a:r>
            <a:r>
              <a:rPr lang="en-US" altLang="zh-CN" sz="3200" b="1" dirty="0"/>
              <a:t>- </a:t>
            </a:r>
            <a:r>
              <a:rPr lang="zh-CN" altLang="en-US" sz="3200" b="1" dirty="0"/>
              <a:t>原子结构是如何作用于氨基酸序列的原子间作用力的热力学问题</a:t>
            </a:r>
            <a:r>
              <a:rPr lang="en-US" altLang="zh-CN" sz="3200" b="1" dirty="0"/>
              <a:t>; </a:t>
            </a:r>
          </a:p>
          <a:p>
            <a:r>
              <a:rPr lang="zh-CN" altLang="en-US" sz="3200" b="1" dirty="0"/>
              <a:t>蛋白质结构预测 </a:t>
            </a:r>
            <a:r>
              <a:rPr lang="en-US" altLang="zh-CN" sz="3200" b="1" dirty="0"/>
              <a:t>- </a:t>
            </a:r>
            <a:r>
              <a:rPr lang="zh-CN" altLang="en-US" sz="3200" b="1" dirty="0"/>
              <a:t>如何从其氨基酸序列预测蛋白质的天然结构的计算问题</a:t>
            </a:r>
            <a:r>
              <a:rPr lang="en-US" altLang="zh-CN" sz="3200" b="1" dirty="0"/>
              <a:t>; </a:t>
            </a:r>
          </a:p>
          <a:p>
            <a:r>
              <a:rPr lang="zh-CN" altLang="en-US" sz="3200" b="1" dirty="0"/>
              <a:t>折叠速度（</a:t>
            </a:r>
            <a:r>
              <a:rPr lang="en-US" altLang="zh-CN" sz="3200" b="1" dirty="0"/>
              <a:t>Levinthal</a:t>
            </a:r>
            <a:r>
              <a:rPr lang="zh-CN" altLang="en-US" sz="3200" b="1" dirty="0"/>
              <a:t>的悖论） </a:t>
            </a:r>
            <a:r>
              <a:rPr lang="en-US" altLang="zh-CN" sz="3200" b="1" dirty="0"/>
              <a:t>- </a:t>
            </a:r>
            <a:r>
              <a:rPr lang="zh-CN" altLang="en-US" sz="3200" b="1" dirty="0"/>
              <a:t>蛋白质如何折叠得如此之快的动力学问题（上面提到的巨大挑战）。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D82DEAF-2ECE-43EB-AEA0-3EE71E3F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336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2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4389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/>
              <a:t>Three problems of protein folding</a:t>
            </a:r>
            <a:endParaRPr lang="zh-CN" altLang="en-US" sz="4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AEFB71-29A0-4CC9-A442-7F353AC1FBAE}"/>
              </a:ext>
            </a:extLst>
          </p:cNvPr>
          <p:cNvSpPr txBox="1"/>
          <p:nvPr/>
        </p:nvSpPr>
        <p:spPr>
          <a:xfrm>
            <a:off x="1136337" y="1971512"/>
            <a:ext cx="965358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在</a:t>
            </a:r>
            <a:r>
              <a:rPr lang="en-US" altLang="zh-CN" sz="2400" dirty="0"/>
              <a:t>20</a:t>
            </a:r>
            <a:r>
              <a:rPr lang="zh-CN" altLang="en-US" sz="2400" dirty="0"/>
              <a:t>世纪</a:t>
            </a:r>
            <a:r>
              <a:rPr lang="en-US" altLang="zh-CN" sz="2400" dirty="0"/>
              <a:t>80</a:t>
            </a:r>
            <a:r>
              <a:rPr lang="zh-CN" altLang="en-US" sz="2400" dirty="0"/>
              <a:t>年代中期之前，主要的观点是蛋白质折叠密码是许多不同小相互作用力（氢键，离子对，范德华相互作用，疏水相互作用）的总和</a:t>
            </a:r>
            <a:r>
              <a:rPr lang="en-US" altLang="zh-CN" sz="2400" dirty="0"/>
              <a:t>,</a:t>
            </a:r>
          </a:p>
          <a:p>
            <a:r>
              <a:rPr lang="zh-CN" altLang="en-US" sz="2400" dirty="0"/>
              <a:t>然而，通过统计力学建模，在</a:t>
            </a:r>
            <a:r>
              <a:rPr lang="en-US" altLang="zh-CN" sz="2400" dirty="0"/>
              <a:t>20</a:t>
            </a:r>
            <a:r>
              <a:rPr lang="zh-CN" altLang="en-US" sz="2400" dirty="0"/>
              <a:t>世纪</a:t>
            </a:r>
            <a:r>
              <a:rPr lang="en-US" altLang="zh-CN" sz="2400" dirty="0"/>
              <a:t>80</a:t>
            </a:r>
            <a:r>
              <a:rPr lang="zh-CN" altLang="en-US" sz="2400" dirty="0"/>
              <a:t>年代后期出现了一种不同的观点 </a:t>
            </a:r>
            <a:r>
              <a:rPr lang="en-US" altLang="zh-CN" sz="2400" dirty="0"/>
              <a:t>- </a:t>
            </a:r>
            <a:r>
              <a:rPr lang="zh-CN" altLang="en-US" sz="2400" dirty="0"/>
              <a:t>即折叠代码（疏水相互作用）有一个主要的组成部分，天然的的二级结构比折叠力更重要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现在有许多实验表明，“简化的字母溶剂化”的代码正确地编码了固有结构和由特定序列形成的淀粉样聚集体。此外，这些代码被用于设计新型聚合物材料。折叠螺旋束已经被设计成使用非生物骨架，并且在生物医学中快速应用，包括抗微生物剂、肺表面活性物质替代物、巨细胞病毒抑制剂等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另外，蛋白质设计也是一个越来越成功的事业。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962247-6C9E-4F60-AA2F-527618B10D5C}"/>
              </a:ext>
            </a:extLst>
          </p:cNvPr>
          <p:cNvSpPr txBox="1"/>
          <p:nvPr/>
        </p:nvSpPr>
        <p:spPr>
          <a:xfrm>
            <a:off x="1076960" y="1158240"/>
            <a:ext cx="2321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折叠代码</a:t>
            </a:r>
          </a:p>
          <a:p>
            <a:endParaRPr lang="zh-CN" altLang="en-US" sz="2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67F306-1BEC-4698-A0D8-54A942E46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88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2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413446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dirty="0"/>
              <a:t>计算方法预测蛋白质结构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E99497-E68A-4BEE-8DEF-192B609C0E21}"/>
              </a:ext>
            </a:extLst>
          </p:cNvPr>
          <p:cNvSpPr txBox="1"/>
          <p:nvPr/>
        </p:nvSpPr>
        <p:spPr>
          <a:xfrm>
            <a:off x="1136337" y="1127760"/>
            <a:ext cx="1037844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u="sng" dirty="0"/>
              <a:t>基于生物信息学</a:t>
            </a:r>
            <a:endParaRPr lang="en-US" altLang="zh-CN" sz="2400" b="1" u="sng" dirty="0"/>
          </a:p>
          <a:p>
            <a:r>
              <a:rPr lang="zh-CN" altLang="en-US" sz="2400" b="1" dirty="0"/>
              <a:t>从头计算法</a:t>
            </a:r>
            <a:endParaRPr lang="en-US" altLang="zh-CN" sz="2400" b="1" dirty="0"/>
          </a:p>
          <a:p>
            <a:r>
              <a:rPr lang="en-US" altLang="zh-CN" sz="2400" dirty="0"/>
              <a:t>1973 Anfinsen </a:t>
            </a:r>
            <a:r>
              <a:rPr lang="zh-CN" altLang="en-US" sz="2400" dirty="0"/>
              <a:t>蛋白质的三维结构决定于自身的氨基酸序列</a:t>
            </a:r>
            <a:r>
              <a:rPr lang="en-US" altLang="zh-CN" sz="2400" dirty="0"/>
              <a:t>,</a:t>
            </a:r>
            <a:r>
              <a:rPr lang="zh-CN" altLang="en-US" sz="2400" dirty="0"/>
              <a:t>并且处于最低自由能状态</a:t>
            </a:r>
            <a:r>
              <a:rPr lang="en-US" altLang="zh-CN" sz="2400" dirty="0"/>
              <a:t>.quack </a:t>
            </a:r>
            <a:r>
              <a:rPr lang="zh-CN" altLang="en-US" sz="2400" dirty="0"/>
              <a:t>张阳 </a:t>
            </a:r>
            <a:endParaRPr lang="en-US" altLang="zh-CN" sz="2400" dirty="0"/>
          </a:p>
          <a:p>
            <a:r>
              <a:rPr lang="zh-CN" altLang="en-US" sz="2400" b="1" dirty="0"/>
              <a:t>同源建模法</a:t>
            </a:r>
            <a:r>
              <a:rPr lang="en-US" altLang="zh-CN" sz="2400" b="1" dirty="0"/>
              <a:t>homolog modeling</a:t>
            </a:r>
          </a:p>
          <a:p>
            <a:r>
              <a:rPr lang="zh-CN" altLang="en-US" sz="2400" dirty="0"/>
              <a:t>原理 相似的氨基酸对应着相似的蛋白质结构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需要找到与目标序列同源的已知结构模板</a:t>
            </a:r>
            <a:r>
              <a:rPr lang="en-US" altLang="zh-CN" sz="2400" dirty="0"/>
              <a:t>(</a:t>
            </a:r>
            <a:r>
              <a:rPr lang="zh-CN" altLang="en-US" sz="2400" dirty="0"/>
              <a:t>一致度</a:t>
            </a:r>
            <a:r>
              <a:rPr lang="en-US" altLang="zh-CN" sz="2400" dirty="0"/>
              <a:t>&gt;=30%)</a:t>
            </a:r>
          </a:p>
          <a:p>
            <a:r>
              <a:rPr lang="zh-CN" altLang="en-US" sz="2400" b="1" dirty="0"/>
              <a:t>穿线法</a:t>
            </a:r>
            <a:endParaRPr lang="en-US" altLang="zh-CN" sz="2400" b="1" dirty="0"/>
          </a:p>
          <a:p>
            <a:r>
              <a:rPr lang="en-US" altLang="zh-CN" sz="2400" dirty="0"/>
              <a:t> </a:t>
            </a:r>
            <a:r>
              <a:rPr lang="zh-CN" altLang="en-US" sz="2400" dirty="0"/>
              <a:t>不相似的氨基酸序列也可以对应着相似的蛋白质结构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已知的蛋白质结构约</a:t>
            </a:r>
            <a:r>
              <a:rPr lang="en-US" altLang="zh-CN" sz="2400" dirty="0"/>
              <a:t>10</a:t>
            </a:r>
            <a:r>
              <a:rPr lang="zh-CN" altLang="en-US" sz="2400" dirty="0"/>
              <a:t>万个</a:t>
            </a:r>
            <a:r>
              <a:rPr lang="en-US" altLang="zh-CN" sz="2400" dirty="0"/>
              <a:t>,</a:t>
            </a:r>
            <a:r>
              <a:rPr lang="zh-CN" altLang="en-US" sz="2400" dirty="0"/>
              <a:t>所具有的不同的拓扑结构只有</a:t>
            </a:r>
            <a:r>
              <a:rPr lang="en-US" altLang="zh-CN" sz="2400" dirty="0"/>
              <a:t>1393</a:t>
            </a:r>
            <a:r>
              <a:rPr lang="zh-CN" altLang="en-US" sz="2400" dirty="0"/>
              <a:t>个</a:t>
            </a:r>
            <a:r>
              <a:rPr lang="en-US" altLang="zh-CN" sz="2400" dirty="0"/>
              <a:t>.</a:t>
            </a:r>
          </a:p>
          <a:p>
            <a:r>
              <a:rPr lang="zh-CN" altLang="en-US" sz="2400" dirty="0"/>
              <a:t>根据能量方程判别预测效果</a:t>
            </a:r>
            <a:r>
              <a:rPr lang="en-US" altLang="zh-CN" sz="2400" dirty="0"/>
              <a:t>,</a:t>
            </a:r>
            <a:r>
              <a:rPr lang="zh-CN" altLang="en-US" sz="2400" dirty="0"/>
              <a:t>能量越低预测越好</a:t>
            </a:r>
            <a:r>
              <a:rPr lang="en-US" altLang="zh-CN" sz="2400" dirty="0"/>
              <a:t>. </a:t>
            </a:r>
          </a:p>
          <a:p>
            <a:r>
              <a:rPr lang="en-US" altLang="zh-CN" sz="2400" dirty="0"/>
              <a:t>I-TASSER </a:t>
            </a:r>
            <a:r>
              <a:rPr lang="zh-CN" altLang="en-US" sz="2400" dirty="0"/>
              <a:t>美国密歇根大学张阳</a:t>
            </a:r>
            <a:endParaRPr lang="en-US" altLang="zh-CN" sz="2400" dirty="0"/>
          </a:p>
          <a:p>
            <a:r>
              <a:rPr lang="en-US" altLang="zh-CN" sz="2400" i="1" dirty="0" err="1"/>
              <a:t>casp</a:t>
            </a:r>
            <a:r>
              <a:rPr lang="zh-CN" altLang="en-US" sz="2400" i="1" dirty="0"/>
              <a:t>蛋白质结构生物信息预测国际竞赛</a:t>
            </a:r>
            <a:endParaRPr lang="en-US" altLang="zh-CN" sz="2400" i="1" dirty="0"/>
          </a:p>
          <a:p>
            <a:r>
              <a:rPr lang="zh-CN" altLang="en-US" sz="2400" b="1" dirty="0"/>
              <a:t>综合法</a:t>
            </a:r>
            <a:endParaRPr lang="en-US" altLang="zh-CN" sz="2400" b="1" dirty="0"/>
          </a:p>
          <a:p>
            <a:r>
              <a:rPr lang="zh-CN" altLang="en-US" sz="2400" dirty="0"/>
              <a:t>找到模板的区域用同源建模法</a:t>
            </a:r>
            <a:r>
              <a:rPr lang="en-US" altLang="zh-CN" sz="2400" dirty="0"/>
              <a:t>,</a:t>
            </a:r>
            <a:r>
              <a:rPr lang="zh-CN" altLang="en-US" sz="2400" dirty="0"/>
              <a:t>找不到的区域用从头计算法</a:t>
            </a:r>
            <a:r>
              <a:rPr lang="en-US" altLang="zh-CN" sz="2400" dirty="0"/>
              <a:t>.</a:t>
            </a:r>
            <a:endParaRPr lang="zh-CN" altLang="en-US" sz="2400" dirty="0"/>
          </a:p>
          <a:p>
            <a:endParaRPr lang="zh-CN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AD2737-5B65-41F7-8847-C5DDCAB7B44F}"/>
              </a:ext>
            </a:extLst>
          </p:cNvPr>
          <p:cNvSpPr/>
          <p:nvPr/>
        </p:nvSpPr>
        <p:spPr>
          <a:xfrm>
            <a:off x="5542002" y="32443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505050"/>
                </a:solidFill>
                <a:latin typeface="Arial" panose="020B0604020202020204" pitchFamily="34" charset="0"/>
              </a:rPr>
              <a:t>基于物理</a:t>
            </a:r>
            <a:endParaRPr lang="zh-CN" altLang="en-US" b="0" i="0" dirty="0">
              <a:solidFill>
                <a:srgbClr val="50505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C53B15F-9FC9-464C-9ED5-D884872C1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0162" y="2333625"/>
            <a:ext cx="3133725" cy="219075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096046-0BE5-4E22-9B88-671AA2BD3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746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2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4134465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dirty="0"/>
              <a:t>计算方法预测蛋白质结构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E99497-E68A-4BEE-8DEF-192B609C0E21}"/>
              </a:ext>
            </a:extLst>
          </p:cNvPr>
          <p:cNvSpPr txBox="1"/>
          <p:nvPr/>
        </p:nvSpPr>
        <p:spPr>
          <a:xfrm>
            <a:off x="1136337" y="1234166"/>
            <a:ext cx="103784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u="sng" dirty="0"/>
              <a:t>基于物理</a:t>
            </a:r>
            <a:endParaRPr lang="en-US" altLang="zh-CN" sz="2400" b="1" u="sng" dirty="0"/>
          </a:p>
          <a:p>
            <a:r>
              <a:rPr lang="zh-CN" altLang="en-US" sz="2400" dirty="0"/>
              <a:t>蛋白质的折叠也可以看成是</a:t>
            </a:r>
            <a:r>
              <a:rPr lang="zh-CN" altLang="en-US" sz="2400" b="1" dirty="0"/>
              <a:t>能量</a:t>
            </a:r>
            <a:r>
              <a:rPr lang="zh-CN" altLang="en-US" sz="2400" dirty="0"/>
              <a:t>与</a:t>
            </a:r>
            <a:r>
              <a:rPr lang="zh-CN" altLang="en-US" sz="2400" b="1" dirty="0"/>
              <a:t>熵</a:t>
            </a:r>
            <a:r>
              <a:rPr lang="zh-CN" altLang="en-US" sz="2400" dirty="0"/>
              <a:t>的竞争</a:t>
            </a:r>
            <a:endParaRPr lang="en-US" altLang="zh-CN" sz="2400" dirty="0"/>
          </a:p>
          <a:p>
            <a:r>
              <a:rPr lang="zh-CN" altLang="en-US" sz="2400" b="1" dirty="0"/>
              <a:t>漏斗的顶部和底部都是自由能比较小的点 </a:t>
            </a:r>
            <a:r>
              <a:rPr lang="en-US" altLang="zh-CN" sz="2400" b="1" dirty="0"/>
              <a:t>(</a:t>
            </a:r>
            <a:r>
              <a:rPr lang="zh-CN" altLang="en-US" sz="2400" dirty="0"/>
              <a:t>右图</a:t>
            </a:r>
            <a:r>
              <a:rPr lang="en-US" altLang="zh-CN" sz="2400" dirty="0"/>
              <a:t>)</a:t>
            </a:r>
          </a:p>
          <a:p>
            <a:r>
              <a:rPr lang="zh-CN" altLang="en-US" sz="2400" dirty="0"/>
              <a:t>两个极端方向上分别出现了蛋白质（能量降低）和无序蛋白（熵增高）。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80E890-A12F-4F6E-974A-0227930BF7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732" y="3429000"/>
            <a:ext cx="5076825" cy="271462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79EAF-83F5-446E-9918-E205B4C7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86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542301-7F36-4245-A679-76BED1FEE84F}"/>
              </a:ext>
            </a:extLst>
          </p:cNvPr>
          <p:cNvSpPr txBox="1"/>
          <p:nvPr/>
        </p:nvSpPr>
        <p:spPr>
          <a:xfrm>
            <a:off x="1250633" y="541020"/>
            <a:ext cx="9458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利文索尔佯谬（</a:t>
            </a:r>
            <a:r>
              <a:rPr lang="en-US" altLang="zh-CN" sz="2800" dirty="0"/>
              <a:t>Levinthal's paradox</a:t>
            </a:r>
            <a:r>
              <a:rPr lang="zh-CN" altLang="en-US" sz="2800" dirty="0"/>
              <a:t>）</a:t>
            </a:r>
            <a:r>
              <a:rPr lang="en-US" altLang="zh-CN" sz="2800" dirty="0"/>
              <a:t>,</a:t>
            </a:r>
            <a:r>
              <a:rPr lang="zh-CN" altLang="en-US" sz="2800" dirty="0"/>
              <a:t>如果蛋白质通过连续采样所有可能的构象而获得其正确折叠的构型，则需要比宇宙的年龄更长的时间以达到其正确的天然构象。“悖论”是大多数小蛋白质在毫秒或甚至微秒时间尺度上同时折叠。这种悖论的解决方案已经通过蛋白质结构预测的计算方法建立。</a:t>
            </a:r>
          </a:p>
          <a:p>
            <a:r>
              <a:rPr lang="zh-CN" altLang="en-US" sz="2800" dirty="0"/>
              <a:t>此佯谬表明蛋白质折叠遵循特异性途径，或者其过程中只尝试有限数目的构象。</a:t>
            </a:r>
            <a:endParaRPr lang="en-US" altLang="zh-CN" sz="2800" dirty="0"/>
          </a:p>
          <a:p>
            <a:r>
              <a:rPr lang="en-US" altLang="zh-CN" sz="2800" dirty="0"/>
              <a:t>ZA</a:t>
            </a:r>
            <a:r>
              <a:rPr lang="zh-CN" altLang="en-US" sz="2800" dirty="0"/>
              <a:t>机制为</a:t>
            </a:r>
            <a:r>
              <a:rPr lang="en-US" altLang="zh-CN" sz="2800" dirty="0"/>
              <a:t>Levinthal</a:t>
            </a:r>
            <a:r>
              <a:rPr lang="zh-CN" altLang="en-US" sz="2800" dirty="0"/>
              <a:t>的动力学蛋白质折叠问题提供了一个合理的答案，根据</a:t>
            </a:r>
            <a:r>
              <a:rPr lang="en-US" altLang="zh-CN" sz="2800" dirty="0"/>
              <a:t>ZA</a:t>
            </a:r>
            <a:r>
              <a:rPr lang="zh-CN" altLang="en-US" sz="2800" dirty="0"/>
              <a:t>机制，蛋白质可以快速折叠，因为它们不会同时搜索所有的自由度。蛋白质折叠的时间范围广泛。在最快的时间尺度上（皮秒至纳秒），链中不同的小肽片段独立于其他此类片段探索局部构象。局部结构形式，然后增长（拉链），以包括越来越多的周边链。然后多个部分可以在较慢的时间尺度上组装在一起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A1BAE6-117D-4390-955C-13E672FC1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983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出自【趣你的PPT】(微信:qunideppt)：最优质的PPT资源库"/>
          <p:cNvSpPr>
            <a:spLocks/>
          </p:cNvSpPr>
          <p:nvPr/>
        </p:nvSpPr>
        <p:spPr bwMode="auto">
          <a:xfrm>
            <a:off x="404695" y="4809650"/>
            <a:ext cx="1119305" cy="2048350"/>
          </a:xfrm>
          <a:custGeom>
            <a:avLst/>
            <a:gdLst/>
            <a:ahLst/>
            <a:cxnLst>
              <a:cxn ang="0">
                <a:pos x="317" y="728"/>
              </a:cxn>
              <a:cxn ang="0">
                <a:pos x="300" y="323"/>
              </a:cxn>
              <a:cxn ang="0">
                <a:pos x="393" y="116"/>
              </a:cxn>
              <a:cxn ang="0">
                <a:pos x="348" y="125"/>
              </a:cxn>
              <a:cxn ang="0">
                <a:pos x="264" y="184"/>
              </a:cxn>
              <a:cxn ang="0">
                <a:pos x="196" y="15"/>
              </a:cxn>
              <a:cxn ang="0">
                <a:pos x="187" y="126"/>
              </a:cxn>
              <a:cxn ang="0">
                <a:pos x="117" y="81"/>
              </a:cxn>
              <a:cxn ang="0">
                <a:pos x="65" y="40"/>
              </a:cxn>
              <a:cxn ang="0">
                <a:pos x="126" y="182"/>
              </a:cxn>
              <a:cxn ang="0">
                <a:pos x="24" y="86"/>
              </a:cxn>
              <a:cxn ang="0">
                <a:pos x="21" y="129"/>
              </a:cxn>
              <a:cxn ang="0">
                <a:pos x="104" y="227"/>
              </a:cxn>
              <a:cxn ang="0">
                <a:pos x="24" y="184"/>
              </a:cxn>
              <a:cxn ang="0">
                <a:pos x="48" y="238"/>
              </a:cxn>
              <a:cxn ang="0">
                <a:pos x="173" y="392"/>
              </a:cxn>
              <a:cxn ang="0">
                <a:pos x="152" y="728"/>
              </a:cxn>
              <a:cxn ang="0">
                <a:pos x="317" y="728"/>
              </a:cxn>
            </a:cxnLst>
            <a:rect l="0" t="0" r="r" b="b"/>
            <a:pathLst>
              <a:path w="398" h="728">
                <a:moveTo>
                  <a:pt x="317" y="728"/>
                </a:moveTo>
                <a:cubicBezTo>
                  <a:pt x="317" y="728"/>
                  <a:pt x="261" y="475"/>
                  <a:pt x="300" y="323"/>
                </a:cubicBezTo>
                <a:cubicBezTo>
                  <a:pt x="339" y="171"/>
                  <a:pt x="398" y="140"/>
                  <a:pt x="393" y="116"/>
                </a:cubicBezTo>
                <a:cubicBezTo>
                  <a:pt x="387" y="93"/>
                  <a:pt x="358" y="103"/>
                  <a:pt x="348" y="125"/>
                </a:cubicBezTo>
                <a:cubicBezTo>
                  <a:pt x="338" y="146"/>
                  <a:pt x="299" y="192"/>
                  <a:pt x="264" y="184"/>
                </a:cubicBezTo>
                <a:cubicBezTo>
                  <a:pt x="228" y="176"/>
                  <a:pt x="221" y="30"/>
                  <a:pt x="196" y="15"/>
                </a:cubicBezTo>
                <a:cubicBezTo>
                  <a:pt x="170" y="0"/>
                  <a:pt x="178" y="68"/>
                  <a:pt x="187" y="126"/>
                </a:cubicBezTo>
                <a:cubicBezTo>
                  <a:pt x="196" y="184"/>
                  <a:pt x="147" y="151"/>
                  <a:pt x="117" y="81"/>
                </a:cubicBezTo>
                <a:cubicBezTo>
                  <a:pt x="87" y="10"/>
                  <a:pt x="69" y="31"/>
                  <a:pt x="65" y="40"/>
                </a:cubicBezTo>
                <a:cubicBezTo>
                  <a:pt x="62" y="50"/>
                  <a:pt x="131" y="176"/>
                  <a:pt x="126" y="182"/>
                </a:cubicBezTo>
                <a:cubicBezTo>
                  <a:pt x="120" y="188"/>
                  <a:pt x="33" y="83"/>
                  <a:pt x="24" y="86"/>
                </a:cubicBezTo>
                <a:cubicBezTo>
                  <a:pt x="15" y="89"/>
                  <a:pt x="0" y="96"/>
                  <a:pt x="21" y="129"/>
                </a:cubicBezTo>
                <a:cubicBezTo>
                  <a:pt x="42" y="162"/>
                  <a:pt x="108" y="218"/>
                  <a:pt x="104" y="227"/>
                </a:cubicBezTo>
                <a:cubicBezTo>
                  <a:pt x="99" y="236"/>
                  <a:pt x="45" y="185"/>
                  <a:pt x="24" y="184"/>
                </a:cubicBezTo>
                <a:cubicBezTo>
                  <a:pt x="4" y="182"/>
                  <a:pt x="12" y="211"/>
                  <a:pt x="48" y="238"/>
                </a:cubicBezTo>
                <a:cubicBezTo>
                  <a:pt x="84" y="264"/>
                  <a:pt x="172" y="294"/>
                  <a:pt x="173" y="392"/>
                </a:cubicBezTo>
                <a:cubicBezTo>
                  <a:pt x="174" y="491"/>
                  <a:pt x="152" y="728"/>
                  <a:pt x="152" y="728"/>
                </a:cubicBezTo>
                <a:lnTo>
                  <a:pt x="317" y="72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endParaRPr lang="en-US" sz="1500"/>
          </a:p>
        </p:txBody>
      </p:sp>
      <p:grpSp>
        <p:nvGrpSpPr>
          <p:cNvPr id="23" name="Group 22出自【趣你的PPT】(微信:qunideppt)：最优质的PPT资源库"/>
          <p:cNvGrpSpPr/>
          <p:nvPr>
            <p:custDataLst>
              <p:tags r:id="rId1"/>
            </p:custDataLst>
          </p:nvPr>
        </p:nvGrpSpPr>
        <p:grpSpPr>
          <a:xfrm>
            <a:off x="297737" y="400738"/>
            <a:ext cx="779223" cy="312382"/>
            <a:chOff x="297737" y="348676"/>
            <a:chExt cx="779223" cy="312382"/>
          </a:xfrm>
        </p:grpSpPr>
        <p:sp>
          <p:nvSpPr>
            <p:cNvPr id="24" name="出自【趣你的PPT】(微信:qunideppt)：最优质的PPT资源库"/>
            <p:cNvSpPr/>
            <p:nvPr/>
          </p:nvSpPr>
          <p:spPr>
            <a:xfrm>
              <a:off x="297737" y="452803"/>
              <a:ext cx="628406" cy="2082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出自【趣你的PPT】(微信:qunideppt)：最优质的PPT资源库"/>
            <p:cNvSpPr/>
            <p:nvPr/>
          </p:nvSpPr>
          <p:spPr>
            <a:xfrm>
              <a:off x="448554" y="348676"/>
              <a:ext cx="628406" cy="2082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出自【趣你的PPT】(微信:qunideppt)：最优质的PPT资源库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36337" y="326097"/>
            <a:ext cx="16690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/>
              <a:t>Conclusions</a:t>
            </a:r>
            <a:endParaRPr lang="zh-CN" altLang="en-US" sz="4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52287D5-DED3-490F-88A0-7678D490AF6D}"/>
              </a:ext>
            </a:extLst>
          </p:cNvPr>
          <p:cNvSpPr txBox="1"/>
          <p:nvPr/>
        </p:nvSpPr>
        <p:spPr>
          <a:xfrm>
            <a:off x="1524000" y="1371600"/>
            <a:ext cx="6644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一个蛋白质可以快速折叠，并通过较小的分量拼图的分段解来解决其大的全局优化难题。</a:t>
            </a:r>
            <a:endParaRPr lang="zh-CN" altLang="en-US" sz="2800" b="1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9D80F0-6117-4296-BF2F-B5884FB3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C6C6-4A3F-40B7-8E12-408FC0D4F1C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1371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2guxsjg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RDRI TOOLS WATERMARK" val="pqjpjwus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909</Words>
  <Application>Microsoft Office PowerPoint</Application>
  <PresentationFormat>宽屏</PresentationFormat>
  <Paragraphs>80</Paragraphs>
  <Slides>11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方正清刻本悦宋简体</vt:lpstr>
      <vt:lpstr>宋体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哲</dc:creator>
  <cp:lastModifiedBy>王 哲</cp:lastModifiedBy>
  <cp:revision>24</cp:revision>
  <dcterms:created xsi:type="dcterms:W3CDTF">2018-04-22T13:00:30Z</dcterms:created>
  <dcterms:modified xsi:type="dcterms:W3CDTF">2018-05-09T07:23:29Z</dcterms:modified>
</cp:coreProperties>
</file>